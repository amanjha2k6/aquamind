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6858000" cx="12192000"/>
  <p:notesSz cx="6858000" cy="9144000"/>
  <p:embeddedFontLst>
    <p:embeddedFont>
      <p:font typeface="Architects Daughter"/>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4" roundtripDataSignature="AMtx7mhdhxI4RJuTHKNJqz3XZNVoShPd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24" Type="http://customschemas.google.com/relationships/presentationmetadata" Target="metadata"/><Relationship Id="rId12" Type="http://schemas.openxmlformats.org/officeDocument/2006/relationships/slide" Target="slides/slide5.xml"/><Relationship Id="rId23" Type="http://schemas.openxmlformats.org/officeDocument/2006/relationships/font" Target="fonts/ArchitectsDaugh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2.xml"/><Relationship Id="rId19" Type="http://schemas.openxmlformats.org/officeDocument/2006/relationships/slide" Target="slides/slide12.xml"/><Relationship Id="rId6" Type="http://schemas.openxmlformats.org/officeDocument/2006/relationships/slideMaster" Target="slideMasters/slideMaster3.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p:nvPr>
            <p:ph idx="2" type="pic"/>
          </p:nvPr>
        </p:nvSpPr>
        <p:spPr>
          <a:xfrm>
            <a:off x="5183188" y="987425"/>
            <a:ext cx="6172200" cy="4873625"/>
          </a:xfrm>
          <a:prstGeom prst="rect">
            <a:avLst/>
          </a:prstGeom>
          <a:noFill/>
          <a:ln>
            <a:noFill/>
          </a:ln>
        </p:spPr>
      </p:sp>
      <p:sp>
        <p:nvSpPr>
          <p:cNvPr id="68" name="Google Shape;68;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Титульный слайд">
  <p:cSld name="1_Титульный слайд">
    <p:spTree>
      <p:nvGrpSpPr>
        <p:cNvPr id="84" name="Shape 84"/>
        <p:cNvGrpSpPr/>
        <p:nvPr/>
      </p:nvGrpSpPr>
      <p:grpSpPr>
        <a:xfrm>
          <a:off x="0" y="0"/>
          <a:ext cx="0" cy="0"/>
          <a:chOff x="0" y="0"/>
          <a:chExt cx="0" cy="0"/>
        </a:xfrm>
      </p:grpSpPr>
      <p:sp>
        <p:nvSpPr>
          <p:cNvPr id="85" name="Google Shape;85;p28"/>
          <p:cNvSpPr/>
          <p:nvPr/>
        </p:nvSpPr>
        <p:spPr>
          <a:xfrm>
            <a:off x="-19050" y="1905000"/>
            <a:ext cx="12211050" cy="4953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28"/>
          <p:cNvSpPr/>
          <p:nvPr/>
        </p:nvSpPr>
        <p:spPr>
          <a:xfrm>
            <a:off x="-19050" y="0"/>
            <a:ext cx="12211050" cy="4438650"/>
          </a:xfrm>
          <a:custGeom>
            <a:rect b="b" l="l" r="r" t="t"/>
            <a:pathLst>
              <a:path extrusionOk="0" h="4438650" w="12211050">
                <a:moveTo>
                  <a:pt x="19050" y="0"/>
                </a:moveTo>
                <a:lnTo>
                  <a:pt x="12211050" y="0"/>
                </a:lnTo>
                <a:lnTo>
                  <a:pt x="12211050" y="4438650"/>
                </a:lnTo>
                <a:lnTo>
                  <a:pt x="0" y="3219450"/>
                </a:lnTo>
                <a:lnTo>
                  <a:pt x="19050" y="0"/>
                </a:lnTo>
                <a:close/>
              </a:path>
            </a:pathLst>
          </a:cu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28"/>
          <p:cNvSpPr/>
          <p:nvPr/>
        </p:nvSpPr>
        <p:spPr>
          <a:xfrm>
            <a:off x="1085850" y="1009650"/>
            <a:ext cx="10020300" cy="52387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 name="Google Shape;88;p28"/>
          <p:cNvSpPr/>
          <p:nvPr>
            <p:ph idx="2" type="pic"/>
          </p:nvPr>
        </p:nvSpPr>
        <p:spPr>
          <a:xfrm>
            <a:off x="1847850" y="2819400"/>
            <a:ext cx="8496300" cy="280035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5" name="Shape 95"/>
        <p:cNvGrpSpPr/>
        <p:nvPr/>
      </p:nvGrpSpPr>
      <p:grpSpPr>
        <a:xfrm>
          <a:off x="0" y="0"/>
          <a:ext cx="0" cy="0"/>
          <a:chOff x="0" y="0"/>
          <a:chExt cx="0" cy="0"/>
        </a:xfrm>
      </p:grpSpPr>
      <p:sp>
        <p:nvSpPr>
          <p:cNvPr id="96" name="Google Shape;96;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8" name="Google Shape;9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10" name="Google Shape;110;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3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3" name="Google Shape;123;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5" name="Google Shape;125;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
        <p:nvSpPr>
          <p:cNvPr id="135" name="Google Shape;13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8" name="Shape 138"/>
        <p:cNvGrpSpPr/>
        <p:nvPr/>
      </p:nvGrpSpPr>
      <p:grpSpPr>
        <a:xfrm>
          <a:off x="0" y="0"/>
          <a:ext cx="0" cy="0"/>
          <a:chOff x="0" y="0"/>
          <a:chExt cx="0" cy="0"/>
        </a:xfrm>
      </p:grpSpPr>
      <p:sp>
        <p:nvSpPr>
          <p:cNvPr id="139" name="Google Shape;139;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1" name="Google Shape;141;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2" name="Google Shape;14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5" name="Shape 145"/>
        <p:cNvGrpSpPr/>
        <p:nvPr/>
      </p:nvGrpSpPr>
      <p:grpSpPr>
        <a:xfrm>
          <a:off x="0" y="0"/>
          <a:ext cx="0" cy="0"/>
          <a:chOff x="0" y="0"/>
          <a:chExt cx="0" cy="0"/>
        </a:xfrm>
      </p:grpSpPr>
      <p:sp>
        <p:nvSpPr>
          <p:cNvPr id="146" name="Google Shape;146;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8"/>
          <p:cNvSpPr/>
          <p:nvPr>
            <p:ph idx="2" type="pic"/>
          </p:nvPr>
        </p:nvSpPr>
        <p:spPr>
          <a:xfrm>
            <a:off x="5183188" y="987425"/>
            <a:ext cx="6172200" cy="4873625"/>
          </a:xfrm>
          <a:prstGeom prst="rect">
            <a:avLst/>
          </a:prstGeom>
          <a:noFill/>
          <a:ln>
            <a:noFill/>
          </a:ln>
        </p:spPr>
      </p:sp>
      <p:sp>
        <p:nvSpPr>
          <p:cNvPr id="148" name="Google Shape;148;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9" name="Google Shape;149;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2" name="Shape 152"/>
        <p:cNvGrpSpPr/>
        <p:nvPr/>
      </p:nvGrpSpPr>
      <p:grpSpPr>
        <a:xfrm>
          <a:off x="0" y="0"/>
          <a:ext cx="0" cy="0"/>
          <a:chOff x="0" y="0"/>
          <a:chExt cx="0" cy="0"/>
        </a:xfrm>
      </p:grpSpPr>
      <p:sp>
        <p:nvSpPr>
          <p:cNvPr id="153" name="Google Shape;15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8" name="Shape 158"/>
        <p:cNvGrpSpPr/>
        <p:nvPr/>
      </p:nvGrpSpPr>
      <p:grpSpPr>
        <a:xfrm>
          <a:off x="0" y="0"/>
          <a:ext cx="0" cy="0"/>
          <a:chOff x="0" y="0"/>
          <a:chExt cx="0" cy="0"/>
        </a:xfrm>
      </p:grpSpPr>
      <p:sp>
        <p:nvSpPr>
          <p:cNvPr id="159" name="Google Shape;159;p4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Титульный слайд">
  <p:cSld name="1_Титульный слайд">
    <p:spTree>
      <p:nvGrpSpPr>
        <p:cNvPr id="164" name="Shape 164"/>
        <p:cNvGrpSpPr/>
        <p:nvPr/>
      </p:nvGrpSpPr>
      <p:grpSpPr>
        <a:xfrm>
          <a:off x="0" y="0"/>
          <a:ext cx="0" cy="0"/>
          <a:chOff x="0" y="0"/>
          <a:chExt cx="0" cy="0"/>
        </a:xfrm>
      </p:grpSpPr>
      <p:sp>
        <p:nvSpPr>
          <p:cNvPr id="165" name="Google Shape;165;p41"/>
          <p:cNvSpPr/>
          <p:nvPr/>
        </p:nvSpPr>
        <p:spPr>
          <a:xfrm>
            <a:off x="-19050" y="1905000"/>
            <a:ext cx="12211050" cy="4953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41"/>
          <p:cNvSpPr/>
          <p:nvPr/>
        </p:nvSpPr>
        <p:spPr>
          <a:xfrm>
            <a:off x="-19050" y="0"/>
            <a:ext cx="12211050" cy="4438650"/>
          </a:xfrm>
          <a:custGeom>
            <a:rect b="b" l="l" r="r" t="t"/>
            <a:pathLst>
              <a:path extrusionOk="0" h="4438650" w="12211050">
                <a:moveTo>
                  <a:pt x="19050" y="0"/>
                </a:moveTo>
                <a:lnTo>
                  <a:pt x="12211050" y="0"/>
                </a:lnTo>
                <a:lnTo>
                  <a:pt x="12211050" y="4438650"/>
                </a:lnTo>
                <a:lnTo>
                  <a:pt x="0" y="3219450"/>
                </a:lnTo>
                <a:lnTo>
                  <a:pt x="19050" y="0"/>
                </a:lnTo>
                <a:close/>
              </a:path>
            </a:pathLst>
          </a:cu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41"/>
          <p:cNvSpPr/>
          <p:nvPr/>
        </p:nvSpPr>
        <p:spPr>
          <a:xfrm>
            <a:off x="1085850" y="1009650"/>
            <a:ext cx="10020300" cy="52387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41"/>
          <p:cNvSpPr/>
          <p:nvPr>
            <p:ph idx="2" type="pic"/>
          </p:nvPr>
        </p:nvSpPr>
        <p:spPr>
          <a:xfrm>
            <a:off x="1847850" y="2819400"/>
            <a:ext cx="8496300" cy="280035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69" name="Shape 169"/>
        <p:cNvGrpSpPr/>
        <p:nvPr/>
      </p:nvGrpSpPr>
      <p:grpSpPr>
        <a:xfrm>
          <a:off x="0" y="0"/>
          <a:ext cx="0" cy="0"/>
          <a:chOff x="0" y="0"/>
          <a:chExt cx="0" cy="0"/>
        </a:xfrm>
      </p:grpSpPr>
      <p:sp>
        <p:nvSpPr>
          <p:cNvPr id="170" name="Google Shape;170;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p:cSld name="Agenda Layout">
    <p:bg>
      <p:bgPr>
        <a:blipFill>
          <a:blip r:embed="rId2">
            <a:alphaModFix/>
          </a:blip>
          <a:stretch>
            <a:fillRect/>
          </a:stretch>
        </a:blipFill>
      </p:bgPr>
    </p:bg>
    <p:spTree>
      <p:nvGrpSpPr>
        <p:cNvPr id="174" name="Shape 174"/>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ayout">
  <p:cSld name="Basic Layout">
    <p:bg>
      <p:bgPr>
        <a:blipFill>
          <a:blip r:embed="rId2">
            <a:alphaModFix/>
          </a:blip>
          <a:stretch>
            <a:fillRect/>
          </a:stretch>
        </a:blipFill>
      </p:bgPr>
    </p:bg>
    <p:spTree>
      <p:nvGrpSpPr>
        <p:cNvPr id="175" name="Shape 175"/>
        <p:cNvGrpSpPr/>
        <p:nvPr/>
      </p:nvGrpSpPr>
      <p:grpSpPr>
        <a:xfrm>
          <a:off x="0" y="0"/>
          <a:ext cx="0" cy="0"/>
          <a:chOff x="0" y="0"/>
          <a:chExt cx="0" cy="0"/>
        </a:xfrm>
      </p:grpSpPr>
      <p:sp>
        <p:nvSpPr>
          <p:cNvPr id="176" name="Google Shape;176;p45"/>
          <p:cNvSpPr txBox="1"/>
          <p:nvPr>
            <p:ph idx="1" type="body"/>
          </p:nvPr>
        </p:nvSpPr>
        <p:spPr>
          <a:xfrm>
            <a:off x="0" y="164638"/>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96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77" name="Google Shape;177;p45"/>
          <p:cNvSpPr txBox="1"/>
          <p:nvPr>
            <p:ph idx="2" type="body"/>
          </p:nvPr>
        </p:nvSpPr>
        <p:spPr>
          <a:xfrm>
            <a:off x="0" y="932723"/>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373"/>
              </a:spcBef>
              <a:spcAft>
                <a:spcPts val="0"/>
              </a:spcAft>
              <a:buClr>
                <a:schemeClr val="dk1"/>
              </a:buClr>
              <a:buSzPts val="1867"/>
              <a:buFont typeface="Arial"/>
              <a:buNone/>
              <a:defRPr b="0" i="0" sz="1867" u="none" cap="none" strike="noStrike">
                <a:solidFill>
                  <a:schemeClr val="dk1"/>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78" name="Google Shape;178;p45"/>
          <p:cNvSpPr/>
          <p:nvPr/>
        </p:nvSpPr>
        <p:spPr>
          <a:xfrm>
            <a:off x="4037371" y="1"/>
            <a:ext cx="4128459" cy="6095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79" name="Google Shape;179;p45"/>
          <p:cNvSpPr/>
          <p:nvPr/>
        </p:nvSpPr>
        <p:spPr>
          <a:xfrm>
            <a:off x="0" y="6753308"/>
            <a:ext cx="12192000" cy="1108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Layout">
  <p:cSld name="1_Basic Layout">
    <p:bg>
      <p:bgPr>
        <a:solidFill>
          <a:schemeClr val="lt1"/>
        </a:solidFill>
      </p:bgPr>
    </p:bg>
    <p:spTree>
      <p:nvGrpSpPr>
        <p:cNvPr id="180" name="Shape 180"/>
        <p:cNvGrpSpPr/>
        <p:nvPr/>
      </p:nvGrpSpPr>
      <p:grpSpPr>
        <a:xfrm>
          <a:off x="0" y="0"/>
          <a:ext cx="0" cy="0"/>
          <a:chOff x="0" y="0"/>
          <a:chExt cx="0" cy="0"/>
        </a:xfrm>
      </p:grpSpPr>
      <p:sp>
        <p:nvSpPr>
          <p:cNvPr id="181" name="Google Shape;181;p46"/>
          <p:cNvSpPr txBox="1"/>
          <p:nvPr>
            <p:ph idx="1" type="body"/>
          </p:nvPr>
        </p:nvSpPr>
        <p:spPr>
          <a:xfrm>
            <a:off x="0" y="164638"/>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82" name="Google Shape;182;p46"/>
          <p:cNvSpPr txBox="1"/>
          <p:nvPr>
            <p:ph idx="2" type="body"/>
          </p:nvPr>
        </p:nvSpPr>
        <p:spPr>
          <a:xfrm>
            <a:off x="0" y="932723"/>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83" name="Google Shape;183;p46"/>
          <p:cNvSpPr/>
          <p:nvPr/>
        </p:nvSpPr>
        <p:spPr>
          <a:xfrm>
            <a:off x="4037371" y="1"/>
            <a:ext cx="4128459" cy="6095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84" name="Google Shape;184;p46"/>
          <p:cNvSpPr/>
          <p:nvPr/>
        </p:nvSpPr>
        <p:spPr>
          <a:xfrm>
            <a:off x="0" y="6753308"/>
            <a:ext cx="12192000" cy="1108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Layout">
  <p:cSld name="2_Basic Layout">
    <p:bg>
      <p:bgPr>
        <a:solidFill>
          <a:schemeClr val="lt1"/>
        </a:solidFill>
      </p:bgPr>
    </p:bg>
    <p:spTree>
      <p:nvGrpSpPr>
        <p:cNvPr id="185" name="Shape 185"/>
        <p:cNvGrpSpPr/>
        <p:nvPr/>
      </p:nvGrpSpPr>
      <p:grpSpPr>
        <a:xfrm>
          <a:off x="0" y="0"/>
          <a:ext cx="0" cy="0"/>
          <a:chOff x="0" y="0"/>
          <a:chExt cx="0" cy="0"/>
        </a:xfrm>
      </p:grpSpPr>
      <p:sp>
        <p:nvSpPr>
          <p:cNvPr id="186" name="Google Shape;186;p47"/>
          <p:cNvSpPr txBox="1"/>
          <p:nvPr>
            <p:ph idx="1" type="body"/>
          </p:nvPr>
        </p:nvSpPr>
        <p:spPr>
          <a:xfrm>
            <a:off x="2735627" y="164638"/>
            <a:ext cx="9456373" cy="768085"/>
          </a:xfrm>
          <a:prstGeom prst="rect">
            <a:avLst/>
          </a:prstGeom>
          <a:noFill/>
          <a:ln>
            <a:noFill/>
          </a:ln>
        </p:spPr>
        <p:txBody>
          <a:bodyPr anchorCtr="0" anchor="ctr" bIns="45700" lIns="91425" spcFirstLastPara="1" rIns="91425" wrap="square" tIns="45700">
            <a:noAutofit/>
          </a:bodyPr>
          <a:lstStyle>
            <a:lvl1pPr indent="-228600" lvl="0" marL="457200" marR="0" rtl="0" algn="l">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87" name="Google Shape;187;p47"/>
          <p:cNvSpPr txBox="1"/>
          <p:nvPr>
            <p:ph idx="2" type="body"/>
          </p:nvPr>
        </p:nvSpPr>
        <p:spPr>
          <a:xfrm>
            <a:off x="2735627" y="932723"/>
            <a:ext cx="9456373" cy="384043"/>
          </a:xfrm>
          <a:prstGeom prst="rect">
            <a:avLst/>
          </a:prstGeom>
          <a:noFill/>
          <a:ln>
            <a:noFill/>
          </a:ln>
        </p:spPr>
        <p:txBody>
          <a:bodyPr anchorCtr="0" anchor="ctr" bIns="45700" lIns="91425" spcFirstLastPara="1" rIns="91425" wrap="square" tIns="45700">
            <a:noAutofit/>
          </a:bodyPr>
          <a:lstStyle>
            <a:lvl1pPr indent="-228600" lvl="0" marL="457200" marR="0" rtl="0" algn="l">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88" name="Google Shape;188;p47"/>
          <p:cNvSpPr/>
          <p:nvPr/>
        </p:nvSpPr>
        <p:spPr>
          <a:xfrm>
            <a:off x="0" y="1"/>
            <a:ext cx="2543605" cy="686418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Contents Layout">
  <p:cSld name="Images and Contents Layout">
    <p:spTree>
      <p:nvGrpSpPr>
        <p:cNvPr id="189" name="Shape 189"/>
        <p:cNvGrpSpPr/>
        <p:nvPr/>
      </p:nvGrpSpPr>
      <p:grpSpPr>
        <a:xfrm>
          <a:off x="0" y="0"/>
          <a:ext cx="0" cy="0"/>
          <a:chOff x="0" y="0"/>
          <a:chExt cx="0" cy="0"/>
        </a:xfrm>
      </p:grpSpPr>
      <p:sp>
        <p:nvSpPr>
          <p:cNvPr id="190" name="Google Shape;190;p48"/>
          <p:cNvSpPr txBox="1"/>
          <p:nvPr>
            <p:ph idx="1" type="body"/>
          </p:nvPr>
        </p:nvSpPr>
        <p:spPr>
          <a:xfrm>
            <a:off x="0" y="242176"/>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96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91" name="Google Shape;191;p48"/>
          <p:cNvSpPr txBox="1"/>
          <p:nvPr>
            <p:ph idx="2" type="body"/>
          </p:nvPr>
        </p:nvSpPr>
        <p:spPr>
          <a:xfrm>
            <a:off x="0" y="1010261"/>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192" name="Google Shape;192;p48"/>
          <p:cNvSpPr/>
          <p:nvPr/>
        </p:nvSpPr>
        <p:spPr>
          <a:xfrm>
            <a:off x="0" y="2276872"/>
            <a:ext cx="12192000" cy="2400267"/>
          </a:xfrm>
          <a:prstGeom prst="rect">
            <a:avLst/>
          </a:prstGeom>
          <a:solidFill>
            <a:schemeClr val="accen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93" name="Google Shape;193;p48"/>
          <p:cNvSpPr/>
          <p:nvPr/>
        </p:nvSpPr>
        <p:spPr>
          <a:xfrm rot="10800000">
            <a:off x="1583392" y="4677509"/>
            <a:ext cx="384043" cy="331071"/>
          </a:xfrm>
          <a:prstGeom prst="triangle">
            <a:avLst>
              <a:gd fmla="val 50000" name="adj"/>
            </a:avLst>
          </a:prstGeom>
          <a:solidFill>
            <a:schemeClr val="accen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94" name="Google Shape;194;p48"/>
          <p:cNvSpPr/>
          <p:nvPr/>
        </p:nvSpPr>
        <p:spPr>
          <a:xfrm rot="10800000">
            <a:off x="4463712" y="4677509"/>
            <a:ext cx="384043" cy="331071"/>
          </a:xfrm>
          <a:prstGeom prst="triangle">
            <a:avLst>
              <a:gd fmla="val 50000" name="adj"/>
            </a:avLst>
          </a:prstGeom>
          <a:solidFill>
            <a:schemeClr val="accen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95" name="Google Shape;195;p48"/>
          <p:cNvSpPr/>
          <p:nvPr/>
        </p:nvSpPr>
        <p:spPr>
          <a:xfrm rot="10800000">
            <a:off x="7344032" y="4677509"/>
            <a:ext cx="384043" cy="331071"/>
          </a:xfrm>
          <a:prstGeom prst="triangle">
            <a:avLst>
              <a:gd fmla="val 50000" name="adj"/>
            </a:avLst>
          </a:prstGeom>
          <a:solidFill>
            <a:schemeClr val="accen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96" name="Google Shape;196;p48"/>
          <p:cNvSpPr/>
          <p:nvPr/>
        </p:nvSpPr>
        <p:spPr>
          <a:xfrm rot="10800000">
            <a:off x="10224348" y="4677509"/>
            <a:ext cx="384043" cy="331071"/>
          </a:xfrm>
          <a:prstGeom prst="triangle">
            <a:avLst>
              <a:gd fmla="val 50000" name="adj"/>
            </a:avLst>
          </a:prstGeom>
          <a:solidFill>
            <a:schemeClr val="accen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97" name="Google Shape;197;p48"/>
          <p:cNvSpPr/>
          <p:nvPr/>
        </p:nvSpPr>
        <p:spPr>
          <a:xfrm>
            <a:off x="4037371" y="1"/>
            <a:ext cx="4128459" cy="6095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98" name="Google Shape;198;p48"/>
          <p:cNvSpPr/>
          <p:nvPr/>
        </p:nvSpPr>
        <p:spPr>
          <a:xfrm>
            <a:off x="0" y="6753308"/>
            <a:ext cx="12192000" cy="1108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199" name="Google Shape;199;p48"/>
          <p:cNvSpPr/>
          <p:nvPr>
            <p:ph idx="3" type="pic"/>
          </p:nvPr>
        </p:nvSpPr>
        <p:spPr>
          <a:xfrm>
            <a:off x="815413" y="2517005"/>
            <a:ext cx="1920000" cy="1920000"/>
          </a:xfrm>
          <a:prstGeom prst="ellipse">
            <a:avLst/>
          </a:prstGeom>
          <a:solidFill>
            <a:srgbClr val="F2F2F2"/>
          </a:solidFill>
          <a:ln>
            <a:noFill/>
          </a:ln>
        </p:spPr>
      </p:sp>
      <p:sp>
        <p:nvSpPr>
          <p:cNvPr id="200" name="Google Shape;200;p48"/>
          <p:cNvSpPr/>
          <p:nvPr>
            <p:ph idx="4" type="pic"/>
          </p:nvPr>
        </p:nvSpPr>
        <p:spPr>
          <a:xfrm>
            <a:off x="3695732" y="2517005"/>
            <a:ext cx="1920000" cy="1920000"/>
          </a:xfrm>
          <a:prstGeom prst="ellipse">
            <a:avLst/>
          </a:prstGeom>
          <a:solidFill>
            <a:srgbClr val="F2F2F2"/>
          </a:solidFill>
          <a:ln>
            <a:noFill/>
          </a:ln>
        </p:spPr>
      </p:sp>
      <p:sp>
        <p:nvSpPr>
          <p:cNvPr id="201" name="Google Shape;201;p48"/>
          <p:cNvSpPr/>
          <p:nvPr>
            <p:ph idx="5" type="pic"/>
          </p:nvPr>
        </p:nvSpPr>
        <p:spPr>
          <a:xfrm>
            <a:off x="6576051" y="2517005"/>
            <a:ext cx="1920000" cy="1920000"/>
          </a:xfrm>
          <a:prstGeom prst="ellipse">
            <a:avLst/>
          </a:prstGeom>
          <a:solidFill>
            <a:srgbClr val="F2F2F2"/>
          </a:solidFill>
          <a:ln>
            <a:noFill/>
          </a:ln>
        </p:spPr>
      </p:sp>
      <p:sp>
        <p:nvSpPr>
          <p:cNvPr id="202" name="Google Shape;202;p48"/>
          <p:cNvSpPr/>
          <p:nvPr>
            <p:ph idx="6" type="pic"/>
          </p:nvPr>
        </p:nvSpPr>
        <p:spPr>
          <a:xfrm>
            <a:off x="9456369" y="2517005"/>
            <a:ext cx="1920000" cy="1920000"/>
          </a:xfrm>
          <a:prstGeom prst="ellipse">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s and Contents Layout">
  <p:cSld name="1_Images and Contents Layout">
    <p:spTree>
      <p:nvGrpSpPr>
        <p:cNvPr id="203" name="Shape 203"/>
        <p:cNvGrpSpPr/>
        <p:nvPr/>
      </p:nvGrpSpPr>
      <p:grpSpPr>
        <a:xfrm>
          <a:off x="0" y="0"/>
          <a:ext cx="0" cy="0"/>
          <a:chOff x="0" y="0"/>
          <a:chExt cx="0" cy="0"/>
        </a:xfrm>
      </p:grpSpPr>
      <p:sp>
        <p:nvSpPr>
          <p:cNvPr id="204" name="Google Shape;204;p49"/>
          <p:cNvSpPr/>
          <p:nvPr/>
        </p:nvSpPr>
        <p:spPr>
          <a:xfrm>
            <a:off x="5231904" y="2276872"/>
            <a:ext cx="5711957" cy="3936437"/>
          </a:xfrm>
          <a:prstGeom prst="rect">
            <a:avLst/>
          </a:prstGeom>
          <a:solidFill>
            <a:srgbClr val="F2F2F2"/>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2400">
              <a:solidFill>
                <a:srgbClr val="3F3F3F"/>
              </a:solidFill>
              <a:latin typeface="Arial"/>
              <a:ea typeface="Arial"/>
              <a:cs typeface="Arial"/>
              <a:sym typeface="Arial"/>
            </a:endParaRPr>
          </a:p>
        </p:txBody>
      </p:sp>
      <p:sp>
        <p:nvSpPr>
          <p:cNvPr id="205" name="Google Shape;205;p49"/>
          <p:cNvSpPr/>
          <p:nvPr>
            <p:ph idx="2" type="pic"/>
          </p:nvPr>
        </p:nvSpPr>
        <p:spPr>
          <a:xfrm>
            <a:off x="1103445" y="1412776"/>
            <a:ext cx="4560000" cy="3696000"/>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s and Contents Layout">
  <p:cSld name="2_Images and Contents Layout">
    <p:spTree>
      <p:nvGrpSpPr>
        <p:cNvPr id="206" name="Shape 206"/>
        <p:cNvGrpSpPr/>
        <p:nvPr/>
      </p:nvGrpSpPr>
      <p:grpSpPr>
        <a:xfrm>
          <a:off x="0" y="0"/>
          <a:ext cx="0" cy="0"/>
          <a:chOff x="0" y="0"/>
          <a:chExt cx="0" cy="0"/>
        </a:xfrm>
      </p:grpSpPr>
      <p:sp>
        <p:nvSpPr>
          <p:cNvPr id="207" name="Google Shape;207;p50"/>
          <p:cNvSpPr/>
          <p:nvPr>
            <p:ph idx="2" type="pic"/>
          </p:nvPr>
        </p:nvSpPr>
        <p:spPr>
          <a:xfrm>
            <a:off x="0" y="990600"/>
            <a:ext cx="3887755" cy="5867400"/>
          </a:xfrm>
          <a:prstGeom prst="rect">
            <a:avLst/>
          </a:prstGeom>
          <a:solidFill>
            <a:srgbClr val="F2F2F2"/>
          </a:solidFill>
          <a:ln>
            <a:noFill/>
          </a:ln>
        </p:spPr>
      </p:sp>
      <p:sp>
        <p:nvSpPr>
          <p:cNvPr id="208" name="Google Shape;208;p50"/>
          <p:cNvSpPr/>
          <p:nvPr>
            <p:ph idx="3" type="pic"/>
          </p:nvPr>
        </p:nvSpPr>
        <p:spPr>
          <a:xfrm>
            <a:off x="4079776" y="0"/>
            <a:ext cx="8112224" cy="3621021"/>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s and Contents Layout">
  <p:cSld name="3_Images and Contents Layout">
    <p:spTree>
      <p:nvGrpSpPr>
        <p:cNvPr id="209" name="Shape 209"/>
        <p:cNvGrpSpPr/>
        <p:nvPr/>
      </p:nvGrpSpPr>
      <p:grpSpPr>
        <a:xfrm>
          <a:off x="0" y="0"/>
          <a:ext cx="0" cy="0"/>
          <a:chOff x="0" y="0"/>
          <a:chExt cx="0" cy="0"/>
        </a:xfrm>
      </p:grpSpPr>
      <p:sp>
        <p:nvSpPr>
          <p:cNvPr id="210" name="Google Shape;210;p51"/>
          <p:cNvSpPr/>
          <p:nvPr>
            <p:ph idx="2" type="pic"/>
          </p:nvPr>
        </p:nvSpPr>
        <p:spPr>
          <a:xfrm>
            <a:off x="0" y="1013496"/>
            <a:ext cx="3887755" cy="3567632"/>
          </a:xfrm>
          <a:prstGeom prst="rect">
            <a:avLst/>
          </a:prstGeom>
          <a:solidFill>
            <a:srgbClr val="F2F2F2"/>
          </a:solidFill>
          <a:ln>
            <a:noFill/>
          </a:ln>
        </p:spPr>
      </p:sp>
      <p:sp>
        <p:nvSpPr>
          <p:cNvPr id="211" name="Google Shape;211;p51"/>
          <p:cNvSpPr/>
          <p:nvPr>
            <p:ph idx="3" type="pic"/>
          </p:nvPr>
        </p:nvSpPr>
        <p:spPr>
          <a:xfrm>
            <a:off x="8304245" y="0"/>
            <a:ext cx="3887755" cy="4581128"/>
          </a:xfrm>
          <a:prstGeom prst="rect">
            <a:avLst/>
          </a:prstGeom>
          <a:solidFill>
            <a:srgbClr val="F2F2F2"/>
          </a:solidFill>
          <a:ln>
            <a:noFill/>
          </a:ln>
        </p:spPr>
      </p:sp>
      <p:sp>
        <p:nvSpPr>
          <p:cNvPr id="212" name="Google Shape;212;p51"/>
          <p:cNvSpPr/>
          <p:nvPr>
            <p:ph idx="4" type="pic"/>
          </p:nvPr>
        </p:nvSpPr>
        <p:spPr>
          <a:xfrm>
            <a:off x="0" y="4773149"/>
            <a:ext cx="6096000" cy="2084851"/>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s and Contents Layout">
  <p:cSld name="4_Images and Contents Layout">
    <p:spTree>
      <p:nvGrpSpPr>
        <p:cNvPr id="213" name="Shape 213"/>
        <p:cNvGrpSpPr/>
        <p:nvPr/>
      </p:nvGrpSpPr>
      <p:grpSpPr>
        <a:xfrm>
          <a:off x="0" y="0"/>
          <a:ext cx="0" cy="0"/>
          <a:chOff x="0" y="0"/>
          <a:chExt cx="0" cy="0"/>
        </a:xfrm>
      </p:grpSpPr>
      <p:sp>
        <p:nvSpPr>
          <p:cNvPr id="214" name="Google Shape;214;p52"/>
          <p:cNvSpPr txBox="1"/>
          <p:nvPr>
            <p:ph idx="1" type="body"/>
          </p:nvPr>
        </p:nvSpPr>
        <p:spPr>
          <a:xfrm>
            <a:off x="0" y="242176"/>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215" name="Google Shape;215;p52"/>
          <p:cNvSpPr txBox="1"/>
          <p:nvPr>
            <p:ph idx="2" type="body"/>
          </p:nvPr>
        </p:nvSpPr>
        <p:spPr>
          <a:xfrm>
            <a:off x="0" y="1010261"/>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216" name="Google Shape;216;p52"/>
          <p:cNvSpPr/>
          <p:nvPr/>
        </p:nvSpPr>
        <p:spPr>
          <a:xfrm>
            <a:off x="595027" y="4101331"/>
            <a:ext cx="2400000" cy="2304000"/>
          </a:xfrm>
          <a:prstGeom prst="rect">
            <a:avLst/>
          </a:prstGeom>
          <a:solidFill>
            <a:schemeClr val="accent2"/>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1600">
              <a:solidFill>
                <a:srgbClr val="3F3F3F"/>
              </a:solidFill>
              <a:latin typeface="Arial"/>
              <a:ea typeface="Arial"/>
              <a:cs typeface="Arial"/>
              <a:sym typeface="Arial"/>
            </a:endParaRPr>
          </a:p>
        </p:txBody>
      </p:sp>
      <p:sp>
        <p:nvSpPr>
          <p:cNvPr id="217" name="Google Shape;217;p52"/>
          <p:cNvSpPr/>
          <p:nvPr/>
        </p:nvSpPr>
        <p:spPr>
          <a:xfrm>
            <a:off x="9196973" y="1700808"/>
            <a:ext cx="2400000" cy="2304000"/>
          </a:xfrm>
          <a:prstGeom prst="rect">
            <a:avLst/>
          </a:prstGeom>
          <a:solidFill>
            <a:schemeClr val="accent3"/>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1600">
              <a:solidFill>
                <a:srgbClr val="3F3F3F"/>
              </a:solidFill>
              <a:latin typeface="Arial"/>
              <a:ea typeface="Arial"/>
              <a:cs typeface="Arial"/>
              <a:sym typeface="Arial"/>
            </a:endParaRPr>
          </a:p>
        </p:txBody>
      </p:sp>
      <p:sp>
        <p:nvSpPr>
          <p:cNvPr id="218" name="Google Shape;218;p52"/>
          <p:cNvSpPr/>
          <p:nvPr>
            <p:ph idx="3" type="pic"/>
          </p:nvPr>
        </p:nvSpPr>
        <p:spPr>
          <a:xfrm>
            <a:off x="595027" y="1700808"/>
            <a:ext cx="2400000" cy="2304000"/>
          </a:xfrm>
          <a:prstGeom prst="rect">
            <a:avLst/>
          </a:prstGeom>
          <a:solidFill>
            <a:srgbClr val="F2F2F2"/>
          </a:solidFill>
          <a:ln>
            <a:noFill/>
          </a:ln>
        </p:spPr>
      </p:sp>
      <p:sp>
        <p:nvSpPr>
          <p:cNvPr id="219" name="Google Shape;219;p52"/>
          <p:cNvSpPr/>
          <p:nvPr>
            <p:ph idx="4" type="pic"/>
          </p:nvPr>
        </p:nvSpPr>
        <p:spPr>
          <a:xfrm>
            <a:off x="9196973" y="4101331"/>
            <a:ext cx="2400000" cy="2304000"/>
          </a:xfrm>
          <a:prstGeom prst="rect">
            <a:avLst/>
          </a:prstGeom>
          <a:solidFill>
            <a:srgbClr val="F2F2F2"/>
          </a:solidFill>
          <a:ln>
            <a:noFill/>
          </a:ln>
        </p:spPr>
      </p:sp>
      <p:sp>
        <p:nvSpPr>
          <p:cNvPr id="220" name="Google Shape;220;p52"/>
          <p:cNvSpPr/>
          <p:nvPr>
            <p:ph idx="5" type="pic"/>
          </p:nvPr>
        </p:nvSpPr>
        <p:spPr>
          <a:xfrm>
            <a:off x="3119669" y="4101331"/>
            <a:ext cx="5952663" cy="2304000"/>
          </a:xfrm>
          <a:prstGeom prst="rect">
            <a:avLst/>
          </a:prstGeom>
          <a:solidFill>
            <a:srgbClr val="F2F2F2"/>
          </a:solidFill>
          <a:ln>
            <a:noFill/>
          </a:ln>
        </p:spPr>
      </p:sp>
      <p:sp>
        <p:nvSpPr>
          <p:cNvPr id="221" name="Google Shape;221;p52"/>
          <p:cNvSpPr/>
          <p:nvPr>
            <p:ph idx="6" type="pic"/>
          </p:nvPr>
        </p:nvSpPr>
        <p:spPr>
          <a:xfrm>
            <a:off x="3119669" y="1700808"/>
            <a:ext cx="5952663" cy="2304000"/>
          </a:xfrm>
          <a:prstGeom prst="rect">
            <a:avLst/>
          </a:prstGeom>
          <a:solidFill>
            <a:srgbClr val="F2F2F2"/>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Images and Contents Layout">
  <p:cSld name="5_Images and Contents Layout">
    <p:spTree>
      <p:nvGrpSpPr>
        <p:cNvPr id="222" name="Shape 222"/>
        <p:cNvGrpSpPr/>
        <p:nvPr/>
      </p:nvGrpSpPr>
      <p:grpSpPr>
        <a:xfrm>
          <a:off x="0" y="0"/>
          <a:ext cx="0" cy="0"/>
          <a:chOff x="0" y="0"/>
          <a:chExt cx="0" cy="0"/>
        </a:xfrm>
      </p:grpSpPr>
      <p:sp>
        <p:nvSpPr>
          <p:cNvPr id="223" name="Google Shape;223;p53"/>
          <p:cNvSpPr/>
          <p:nvPr>
            <p:ph idx="2" type="pic"/>
          </p:nvPr>
        </p:nvSpPr>
        <p:spPr>
          <a:xfrm>
            <a:off x="709650" y="480055"/>
            <a:ext cx="4224469" cy="4197085"/>
          </a:xfrm>
          <a:prstGeom prst="rect">
            <a:avLst/>
          </a:prstGeom>
          <a:solidFill>
            <a:srgbClr val="F2F2F2"/>
          </a:solidFill>
          <a:ln>
            <a:noFill/>
          </a:ln>
        </p:spPr>
      </p:sp>
      <p:sp>
        <p:nvSpPr>
          <p:cNvPr id="224" name="Google Shape;224;p53"/>
          <p:cNvSpPr/>
          <p:nvPr>
            <p:ph idx="3" type="pic"/>
          </p:nvPr>
        </p:nvSpPr>
        <p:spPr>
          <a:xfrm>
            <a:off x="5126140" y="480056"/>
            <a:ext cx="6336704" cy="2296105"/>
          </a:xfrm>
          <a:prstGeom prst="rect">
            <a:avLst/>
          </a:prstGeom>
          <a:solidFill>
            <a:srgbClr val="F2F2F2"/>
          </a:solidFill>
          <a:ln>
            <a:noFill/>
          </a:ln>
        </p:spPr>
      </p:sp>
      <p:sp>
        <p:nvSpPr>
          <p:cNvPr id="225" name="Google Shape;225;p53"/>
          <p:cNvSpPr/>
          <p:nvPr>
            <p:ph idx="4" type="pic"/>
          </p:nvPr>
        </p:nvSpPr>
        <p:spPr>
          <a:xfrm>
            <a:off x="5126140" y="2948948"/>
            <a:ext cx="1968000" cy="1728192"/>
          </a:xfrm>
          <a:prstGeom prst="rect">
            <a:avLst/>
          </a:prstGeom>
          <a:solidFill>
            <a:srgbClr val="F2F2F2"/>
          </a:solidFill>
          <a:ln>
            <a:noFill/>
          </a:ln>
        </p:spPr>
      </p:sp>
      <p:sp>
        <p:nvSpPr>
          <p:cNvPr id="226" name="Google Shape;226;p53"/>
          <p:cNvSpPr/>
          <p:nvPr>
            <p:ph idx="5" type="pic"/>
          </p:nvPr>
        </p:nvSpPr>
        <p:spPr>
          <a:xfrm>
            <a:off x="7310492" y="2948948"/>
            <a:ext cx="1968000" cy="1728192"/>
          </a:xfrm>
          <a:prstGeom prst="rect">
            <a:avLst/>
          </a:prstGeom>
          <a:solidFill>
            <a:srgbClr val="F2F2F2"/>
          </a:solidFill>
          <a:ln>
            <a:noFill/>
          </a:ln>
        </p:spPr>
      </p:sp>
      <p:sp>
        <p:nvSpPr>
          <p:cNvPr id="227" name="Google Shape;227;p53"/>
          <p:cNvSpPr/>
          <p:nvPr>
            <p:ph idx="6" type="pic"/>
          </p:nvPr>
        </p:nvSpPr>
        <p:spPr>
          <a:xfrm>
            <a:off x="9494844" y="2948948"/>
            <a:ext cx="1968000" cy="1728192"/>
          </a:xfrm>
          <a:prstGeom prst="rect">
            <a:avLst/>
          </a:prstGeom>
          <a:solidFill>
            <a:srgbClr val="F2F2F2"/>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s and Contents Layout">
  <p:cSld name="7_Images and Contents Layout">
    <p:spTree>
      <p:nvGrpSpPr>
        <p:cNvPr id="228" name="Shape 228"/>
        <p:cNvGrpSpPr/>
        <p:nvPr/>
      </p:nvGrpSpPr>
      <p:grpSpPr>
        <a:xfrm>
          <a:off x="0" y="0"/>
          <a:ext cx="0" cy="0"/>
          <a:chOff x="0" y="0"/>
          <a:chExt cx="0" cy="0"/>
        </a:xfrm>
      </p:grpSpPr>
      <p:sp>
        <p:nvSpPr>
          <p:cNvPr id="229" name="Google Shape;229;p54"/>
          <p:cNvSpPr txBox="1"/>
          <p:nvPr>
            <p:ph idx="1" type="body"/>
          </p:nvPr>
        </p:nvSpPr>
        <p:spPr>
          <a:xfrm>
            <a:off x="0" y="242176"/>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230" name="Google Shape;230;p54"/>
          <p:cNvSpPr txBox="1"/>
          <p:nvPr>
            <p:ph idx="2" type="body"/>
          </p:nvPr>
        </p:nvSpPr>
        <p:spPr>
          <a:xfrm>
            <a:off x="0" y="1010261"/>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pic>
        <p:nvPicPr>
          <p:cNvPr id="231" name="Google Shape;231;p54"/>
          <p:cNvPicPr preferRelativeResize="0"/>
          <p:nvPr/>
        </p:nvPicPr>
        <p:blipFill rotWithShape="1">
          <a:blip r:embed="rId2">
            <a:alphaModFix/>
          </a:blip>
          <a:srcRect b="0" l="0" r="0" t="0"/>
          <a:stretch/>
        </p:blipFill>
        <p:spPr>
          <a:xfrm>
            <a:off x="4546767" y="2276873"/>
            <a:ext cx="7238124" cy="3966041"/>
          </a:xfrm>
          <a:prstGeom prst="rect">
            <a:avLst/>
          </a:prstGeom>
          <a:noFill/>
          <a:ln>
            <a:noFill/>
          </a:ln>
        </p:spPr>
      </p:pic>
      <p:sp>
        <p:nvSpPr>
          <p:cNvPr id="232" name="Google Shape;232;p54"/>
          <p:cNvSpPr/>
          <p:nvPr>
            <p:ph idx="3" type="pic"/>
          </p:nvPr>
        </p:nvSpPr>
        <p:spPr>
          <a:xfrm>
            <a:off x="5705875" y="2485912"/>
            <a:ext cx="4832891" cy="3124239"/>
          </a:xfrm>
          <a:prstGeom prst="rect">
            <a:avLst/>
          </a:prstGeom>
          <a:solidFill>
            <a:srgbClr val="F2F2F2"/>
          </a:solidFill>
          <a:ln>
            <a:noFill/>
          </a:ln>
        </p:spPr>
      </p:sp>
      <p:sp>
        <p:nvSpPr>
          <p:cNvPr id="233" name="Google Shape;233;p54"/>
          <p:cNvSpPr/>
          <p:nvPr/>
        </p:nvSpPr>
        <p:spPr>
          <a:xfrm>
            <a:off x="4037371" y="1"/>
            <a:ext cx="4128459" cy="60959"/>
          </a:xfrm>
          <a:prstGeom prst="rect">
            <a:avLst/>
          </a:prstGeom>
          <a:solidFill>
            <a:srgbClr val="EB49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234" name="Google Shape;234;p54"/>
          <p:cNvSpPr/>
          <p:nvPr/>
        </p:nvSpPr>
        <p:spPr>
          <a:xfrm>
            <a:off x="0" y="6753308"/>
            <a:ext cx="12192000" cy="110875"/>
          </a:xfrm>
          <a:prstGeom prst="rect">
            <a:avLst/>
          </a:prstGeom>
          <a:solidFill>
            <a:srgbClr val="EB49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Images and Contents Layout">
  <p:cSld name="8_Images and Contents Layout">
    <p:spTree>
      <p:nvGrpSpPr>
        <p:cNvPr id="235" name="Shape 235"/>
        <p:cNvGrpSpPr/>
        <p:nvPr/>
      </p:nvGrpSpPr>
      <p:grpSpPr>
        <a:xfrm>
          <a:off x="0" y="0"/>
          <a:ext cx="0" cy="0"/>
          <a:chOff x="0" y="0"/>
          <a:chExt cx="0" cy="0"/>
        </a:xfrm>
      </p:grpSpPr>
      <p:sp>
        <p:nvSpPr>
          <p:cNvPr id="236" name="Google Shape;236;p55"/>
          <p:cNvSpPr txBox="1"/>
          <p:nvPr>
            <p:ph idx="1" type="body"/>
          </p:nvPr>
        </p:nvSpPr>
        <p:spPr>
          <a:xfrm>
            <a:off x="0" y="242176"/>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960"/>
              </a:spcBef>
              <a:spcAft>
                <a:spcPts val="0"/>
              </a:spcAft>
              <a:buClr>
                <a:srgbClr val="3F3F3F"/>
              </a:buClr>
              <a:buSzPts val="4800"/>
              <a:buFont typeface="Arial"/>
              <a:buNone/>
              <a:defRPr b="0" i="0" sz="4800"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237" name="Google Shape;237;p55"/>
          <p:cNvSpPr txBox="1"/>
          <p:nvPr>
            <p:ph idx="2" type="body"/>
          </p:nvPr>
        </p:nvSpPr>
        <p:spPr>
          <a:xfrm>
            <a:off x="0" y="1010261"/>
            <a:ext cx="12192000" cy="384043"/>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373"/>
              </a:spcBef>
              <a:spcAft>
                <a:spcPts val="0"/>
              </a:spcAft>
              <a:buClr>
                <a:srgbClr val="3F3F3F"/>
              </a:buClr>
              <a:buSzPts val="1867"/>
              <a:buFont typeface="Arial"/>
              <a:buNone/>
              <a:defRPr b="0" i="0" sz="1867" u="none" cap="none" strike="noStrike">
                <a:solidFill>
                  <a:srgbClr val="3F3F3F"/>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pic>
        <p:nvPicPr>
          <p:cNvPr descr="D:\Fullppt\005-PNG이미지\모니터.png" id="238" name="Google Shape;238;p55"/>
          <p:cNvPicPr preferRelativeResize="0"/>
          <p:nvPr/>
        </p:nvPicPr>
        <p:blipFill rotWithShape="1">
          <a:blip r:embed="rId2">
            <a:alphaModFix/>
          </a:blip>
          <a:srcRect b="0" l="0" r="0" t="0"/>
          <a:stretch/>
        </p:blipFill>
        <p:spPr>
          <a:xfrm>
            <a:off x="776400" y="1815747"/>
            <a:ext cx="3360373" cy="3350541"/>
          </a:xfrm>
          <a:prstGeom prst="rect">
            <a:avLst/>
          </a:prstGeom>
          <a:noFill/>
          <a:ln>
            <a:noFill/>
          </a:ln>
        </p:spPr>
      </p:pic>
      <p:pic>
        <p:nvPicPr>
          <p:cNvPr descr="D:\Fullppt\005-PNG이미지\모니터.png" id="239" name="Google Shape;239;p55"/>
          <p:cNvPicPr preferRelativeResize="0"/>
          <p:nvPr/>
        </p:nvPicPr>
        <p:blipFill rotWithShape="1">
          <a:blip r:embed="rId2">
            <a:alphaModFix/>
          </a:blip>
          <a:srcRect b="0" l="0" r="0" t="0"/>
          <a:stretch/>
        </p:blipFill>
        <p:spPr>
          <a:xfrm>
            <a:off x="4406826" y="1815747"/>
            <a:ext cx="3360373" cy="3350541"/>
          </a:xfrm>
          <a:prstGeom prst="rect">
            <a:avLst/>
          </a:prstGeom>
          <a:noFill/>
          <a:ln>
            <a:noFill/>
          </a:ln>
        </p:spPr>
      </p:pic>
      <p:pic>
        <p:nvPicPr>
          <p:cNvPr descr="D:\Fullppt\005-PNG이미지\모니터.png" id="240" name="Google Shape;240;p55"/>
          <p:cNvPicPr preferRelativeResize="0"/>
          <p:nvPr/>
        </p:nvPicPr>
        <p:blipFill rotWithShape="1">
          <a:blip r:embed="rId2">
            <a:alphaModFix/>
          </a:blip>
          <a:srcRect b="0" l="0" r="0" t="0"/>
          <a:stretch/>
        </p:blipFill>
        <p:spPr>
          <a:xfrm>
            <a:off x="8037251" y="1815747"/>
            <a:ext cx="3360373" cy="3350541"/>
          </a:xfrm>
          <a:prstGeom prst="rect">
            <a:avLst/>
          </a:prstGeom>
          <a:noFill/>
          <a:ln>
            <a:noFill/>
          </a:ln>
        </p:spPr>
      </p:pic>
      <p:sp>
        <p:nvSpPr>
          <p:cNvPr id="241" name="Google Shape;241;p55"/>
          <p:cNvSpPr/>
          <p:nvPr>
            <p:ph idx="3" type="pic"/>
          </p:nvPr>
        </p:nvSpPr>
        <p:spPr>
          <a:xfrm>
            <a:off x="909901" y="1957962"/>
            <a:ext cx="3073864" cy="2080028"/>
          </a:xfrm>
          <a:prstGeom prst="rect">
            <a:avLst/>
          </a:prstGeom>
          <a:solidFill>
            <a:srgbClr val="F2F2F2"/>
          </a:solidFill>
          <a:ln>
            <a:noFill/>
          </a:ln>
        </p:spPr>
      </p:sp>
      <p:sp>
        <p:nvSpPr>
          <p:cNvPr id="242" name="Google Shape;242;p55"/>
          <p:cNvSpPr/>
          <p:nvPr>
            <p:ph idx="4" type="pic"/>
          </p:nvPr>
        </p:nvSpPr>
        <p:spPr>
          <a:xfrm>
            <a:off x="4539561" y="1957962"/>
            <a:ext cx="3073864" cy="2080028"/>
          </a:xfrm>
          <a:prstGeom prst="rect">
            <a:avLst/>
          </a:prstGeom>
          <a:solidFill>
            <a:srgbClr val="F2F2F2"/>
          </a:solidFill>
          <a:ln>
            <a:noFill/>
          </a:ln>
        </p:spPr>
      </p:sp>
      <p:sp>
        <p:nvSpPr>
          <p:cNvPr id="243" name="Google Shape;243;p55"/>
          <p:cNvSpPr/>
          <p:nvPr>
            <p:ph idx="5" type="pic"/>
          </p:nvPr>
        </p:nvSpPr>
        <p:spPr>
          <a:xfrm>
            <a:off x="8169221" y="1957962"/>
            <a:ext cx="3073864" cy="2080028"/>
          </a:xfrm>
          <a:prstGeom prst="rect">
            <a:avLst/>
          </a:prstGeom>
          <a:solidFill>
            <a:srgbClr val="F2F2F2"/>
          </a:solidFill>
          <a:ln>
            <a:noFill/>
          </a:ln>
        </p:spPr>
      </p:sp>
      <p:sp>
        <p:nvSpPr>
          <p:cNvPr id="244" name="Google Shape;244;p55"/>
          <p:cNvSpPr/>
          <p:nvPr/>
        </p:nvSpPr>
        <p:spPr>
          <a:xfrm>
            <a:off x="4037371" y="1"/>
            <a:ext cx="4128459" cy="6095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245" name="Google Shape;245;p55"/>
          <p:cNvSpPr/>
          <p:nvPr/>
        </p:nvSpPr>
        <p:spPr>
          <a:xfrm>
            <a:off x="0" y="6753308"/>
            <a:ext cx="12192000" cy="1108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Images and Contents Layout">
  <p:cSld name="9_Images and Contents Layout">
    <p:spTree>
      <p:nvGrpSpPr>
        <p:cNvPr id="246" name="Shape 246"/>
        <p:cNvGrpSpPr/>
        <p:nvPr/>
      </p:nvGrpSpPr>
      <p:grpSpPr>
        <a:xfrm>
          <a:off x="0" y="0"/>
          <a:ext cx="0" cy="0"/>
          <a:chOff x="0" y="0"/>
          <a:chExt cx="0" cy="0"/>
        </a:xfrm>
      </p:grpSpPr>
      <p:sp>
        <p:nvSpPr>
          <p:cNvPr id="247" name="Google Shape;247;p56"/>
          <p:cNvSpPr/>
          <p:nvPr>
            <p:ph idx="2" type="pic"/>
          </p:nvPr>
        </p:nvSpPr>
        <p:spPr>
          <a:xfrm>
            <a:off x="0" y="0"/>
            <a:ext cx="12192000" cy="4101075"/>
          </a:xfrm>
          <a:prstGeom prst="rect">
            <a:avLst/>
          </a:prstGeom>
          <a:solidFill>
            <a:srgbClr val="D8D8D8"/>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sets layout">
  <p:cSld name="icon sets layout">
    <p:spTree>
      <p:nvGrpSpPr>
        <p:cNvPr id="248" name="Shape 248"/>
        <p:cNvGrpSpPr/>
        <p:nvPr/>
      </p:nvGrpSpPr>
      <p:grpSpPr>
        <a:xfrm>
          <a:off x="0" y="0"/>
          <a:ext cx="0" cy="0"/>
          <a:chOff x="0" y="0"/>
          <a:chExt cx="0" cy="0"/>
        </a:xfrm>
      </p:grpSpPr>
      <p:sp>
        <p:nvSpPr>
          <p:cNvPr id="249" name="Google Shape;249;p57"/>
          <p:cNvSpPr txBox="1"/>
          <p:nvPr>
            <p:ph idx="1" type="body"/>
          </p:nvPr>
        </p:nvSpPr>
        <p:spPr>
          <a:xfrm>
            <a:off x="0" y="164638"/>
            <a:ext cx="12192000" cy="768085"/>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96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indent="-465645" lvl="1" marL="914400" marR="0" rtl="0" algn="l">
              <a:spcBef>
                <a:spcPts val="747"/>
              </a:spcBef>
              <a:spcAft>
                <a:spcPts val="0"/>
              </a:spcAft>
              <a:buClr>
                <a:schemeClr val="dk1"/>
              </a:buClr>
              <a:buSzPts val="3733"/>
              <a:buFont typeface="Arial"/>
              <a:buChar char="–"/>
              <a:defRPr b="0" i="0" sz="3733"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3pPr>
            <a:lvl4pPr indent="-397954" lvl="3" marL="1828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4pPr>
            <a:lvl5pPr indent="-397954" lvl="4" marL="22860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grpSp>
        <p:nvGrpSpPr>
          <p:cNvPr id="250" name="Google Shape;250;p57"/>
          <p:cNvGrpSpPr/>
          <p:nvPr/>
        </p:nvGrpSpPr>
        <p:grpSpPr>
          <a:xfrm>
            <a:off x="472011" y="1508786"/>
            <a:ext cx="3799787" cy="4865561"/>
            <a:chOff x="354008" y="1131589"/>
            <a:chExt cx="2849840" cy="3649171"/>
          </a:xfrm>
        </p:grpSpPr>
        <p:sp>
          <p:nvSpPr>
            <p:cNvPr id="251" name="Google Shape;251;p57"/>
            <p:cNvSpPr/>
            <p:nvPr/>
          </p:nvSpPr>
          <p:spPr>
            <a:xfrm>
              <a:off x="354008" y="1131589"/>
              <a:ext cx="2849840" cy="3649171"/>
            </a:xfrm>
            <a:prstGeom prst="roundRect">
              <a:avLst>
                <a:gd fmla="val 3968"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252" name="Google Shape;252;p57"/>
            <p:cNvSpPr/>
            <p:nvPr/>
          </p:nvSpPr>
          <p:spPr>
            <a:xfrm>
              <a:off x="531932" y="1347500"/>
              <a:ext cx="108520" cy="3240473"/>
            </a:xfrm>
            <a:prstGeom prst="roundRect">
              <a:avLst>
                <a:gd fmla="val 50000" name="adj"/>
              </a:avLst>
            </a:prstGeom>
            <a:solidFill>
              <a:schemeClr val="lt1">
                <a:alpha val="4078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Arial"/>
                <a:ea typeface="Arial"/>
                <a:cs typeface="Arial"/>
                <a:sym typeface="Arial"/>
              </a:endParaRPr>
            </a:p>
          </p:txBody>
        </p:sp>
        <p:sp>
          <p:nvSpPr>
            <p:cNvPr id="253" name="Google Shape;253;p57"/>
            <p:cNvSpPr/>
            <p:nvPr/>
          </p:nvSpPr>
          <p:spPr>
            <a:xfrm rot="5400000">
              <a:off x="2592642" y="1238201"/>
              <a:ext cx="502331" cy="502331"/>
            </a:xfrm>
            <a:prstGeom prst="halfFrame">
              <a:avLst>
                <a:gd fmla="val 23728" name="adj1"/>
                <a:gd fmla="val 24642" name="adj2"/>
              </a:avLst>
            </a:prstGeom>
            <a:solidFill>
              <a:schemeClr val="lt1">
                <a:alpha val="2274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2.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6.xml"/><Relationship Id="rId10" Type="http://schemas.openxmlformats.org/officeDocument/2006/relationships/slideLayout" Target="../slideLayouts/slideLayout35.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5" Type="http://schemas.openxmlformats.org/officeDocument/2006/relationships/theme" Target="../theme/theme3.xml"/><Relationship Id="rId14" Type="http://schemas.openxmlformats.org/officeDocument/2006/relationships/slideLayout" Target="../slideLayouts/slideLayout3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9" name="Shape 89"/>
        <p:cNvGrpSpPr/>
        <p:nvPr/>
      </p:nvGrpSpPr>
      <p:grpSpPr>
        <a:xfrm>
          <a:off x="0" y="0"/>
          <a:ext cx="0" cy="0"/>
          <a:chOff x="0" y="0"/>
          <a:chExt cx="0" cy="0"/>
        </a:xfrm>
      </p:grpSpPr>
      <p:sp>
        <p:nvSpPr>
          <p:cNvPr id="90" name="Google Shape;9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1" name="Google Shape;9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2" name="Google Shape;9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3" name="Google Shape;9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 name="Google Shape;9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9.png"/><Relationship Id="rId5" Type="http://schemas.openxmlformats.org/officeDocument/2006/relationships/image" Target="../media/image10.jpg"/><Relationship Id="rId6"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
          <p:cNvSpPr/>
          <p:nvPr/>
        </p:nvSpPr>
        <p:spPr>
          <a:xfrm>
            <a:off x="129365" y="6326431"/>
            <a:ext cx="12196420" cy="43919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9" name="Google Shape;259;p1"/>
          <p:cNvSpPr/>
          <p:nvPr/>
        </p:nvSpPr>
        <p:spPr>
          <a:xfrm flipH="1">
            <a:off x="377612" y="6414266"/>
            <a:ext cx="45719" cy="333715"/>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0" name="Google Shape;260;p1"/>
          <p:cNvSpPr txBox="1"/>
          <p:nvPr/>
        </p:nvSpPr>
        <p:spPr>
          <a:xfrm>
            <a:off x="8763000" y="65087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0" i="0" sz="1200" u="none" cap="none" strike="noStrike">
              <a:solidFill>
                <a:srgbClr val="888888"/>
              </a:solidFill>
              <a:latin typeface="Calibri"/>
              <a:ea typeface="Calibri"/>
              <a:cs typeface="Calibri"/>
              <a:sym typeface="Calibri"/>
            </a:endParaRPr>
          </a:p>
        </p:txBody>
      </p:sp>
      <p:sp>
        <p:nvSpPr>
          <p:cNvPr id="261" name="Google Shape;261;p1"/>
          <p:cNvSpPr/>
          <p:nvPr/>
        </p:nvSpPr>
        <p:spPr>
          <a:xfrm flipH="1" rot="10800000">
            <a:off x="9506857" y="5939880"/>
            <a:ext cx="1291772" cy="1157606"/>
          </a:xfrm>
          <a:prstGeom prst="rtTriangle">
            <a:avLst/>
          </a:prstGeom>
          <a:solidFill>
            <a:srgbClr val="F2F2F2">
              <a:alpha val="1686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 name="Google Shape;262;p1"/>
          <p:cNvSpPr/>
          <p:nvPr/>
        </p:nvSpPr>
        <p:spPr>
          <a:xfrm flipH="1">
            <a:off x="7045437" y="-64960"/>
            <a:ext cx="5146562" cy="5852440"/>
          </a:xfrm>
          <a:prstGeom prst="rtTriangle">
            <a:avLst/>
          </a:prstGeom>
          <a:solidFill>
            <a:srgbClr val="F2F2F2">
              <a:alpha val="1686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 name="Google Shape;263;p1"/>
          <p:cNvSpPr/>
          <p:nvPr/>
        </p:nvSpPr>
        <p:spPr>
          <a:xfrm>
            <a:off x="2695892" y="1850059"/>
            <a:ext cx="6829425" cy="2797237"/>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0" i="1" lang="en-GB" sz="2400" u="none" cap="none" strike="noStrike">
                <a:solidFill>
                  <a:srgbClr val="000000"/>
                </a:solidFill>
                <a:latin typeface="Times New Roman"/>
                <a:ea typeface="Times New Roman"/>
                <a:cs typeface="Times New Roman"/>
                <a:sym typeface="Times New Roman"/>
              </a:rPr>
              <a:t>Submitted in the partial fulfillment for the award of the degree of</a:t>
            </a:r>
            <a:endParaRPr/>
          </a:p>
          <a:p>
            <a:pPr indent="0" lvl="0" marL="0" marR="0" rtl="0" algn="ctr">
              <a:lnSpc>
                <a:spcPct val="150000"/>
              </a:lnSpc>
              <a:spcBef>
                <a:spcPts val="0"/>
              </a:spcBef>
              <a:spcAft>
                <a:spcPts val="0"/>
              </a:spcAft>
              <a:buNone/>
            </a:pPr>
            <a:r>
              <a:rPr b="1" i="0" lang="en-GB" sz="2400" u="none" cap="none" strike="noStrike">
                <a:solidFill>
                  <a:srgbClr val="000000"/>
                </a:solidFill>
                <a:latin typeface="Times New Roman"/>
                <a:ea typeface="Times New Roman"/>
                <a:cs typeface="Times New Roman"/>
                <a:sym typeface="Times New Roman"/>
              </a:rPr>
              <a:t>BACHELOR OF ENGINEERING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rPr b="0" i="1" lang="en-GB" sz="2400" u="none" cap="none" strike="noStrike">
                <a:solidFill>
                  <a:srgbClr val="000000"/>
                </a:solidFill>
                <a:latin typeface="Architects Daughter"/>
                <a:ea typeface="Architects Daughter"/>
                <a:cs typeface="Architects Daughter"/>
                <a:sym typeface="Architects Daughter"/>
              </a:rPr>
              <a:t> </a:t>
            </a:r>
            <a:r>
              <a:rPr b="0" i="1" lang="en-GB" sz="2400" u="none" cap="none" strike="noStrike">
                <a:solidFill>
                  <a:srgbClr val="000000"/>
                </a:solidFill>
                <a:latin typeface="Times New Roman"/>
                <a:ea typeface="Times New Roman"/>
                <a:cs typeface="Times New Roman"/>
                <a:sym typeface="Times New Roman"/>
              </a:rPr>
              <a:t>IN</a:t>
            </a:r>
            <a:endParaRPr/>
          </a:p>
          <a:p>
            <a:pPr indent="0" lvl="0" marL="0" marR="0" rtl="0" algn="ctr">
              <a:lnSpc>
                <a:spcPct val="150000"/>
              </a:lnSpc>
              <a:spcBef>
                <a:spcPts val="0"/>
              </a:spcBef>
              <a:spcAft>
                <a:spcPts val="0"/>
              </a:spcAft>
              <a:buNone/>
            </a:pPr>
            <a:r>
              <a:rPr b="1" i="1" lang="en-GB" sz="2400" u="none" cap="none" strike="noStrike">
                <a:solidFill>
                  <a:srgbClr val="000000"/>
                </a:solidFill>
                <a:latin typeface="Times New Roman"/>
                <a:ea typeface="Times New Roman"/>
                <a:cs typeface="Times New Roman"/>
                <a:sym typeface="Times New Roman"/>
              </a:rPr>
              <a:t>COMPUTER SCIENCE ENGINEERING </a:t>
            </a:r>
            <a:br>
              <a:rPr b="0" i="1" lang="en-GB" sz="2400" u="none" cap="none" strike="noStrike">
                <a:solidFill>
                  <a:srgbClr val="000000"/>
                </a:solidFill>
                <a:latin typeface="Calibri"/>
                <a:ea typeface="Calibri"/>
                <a:cs typeface="Calibri"/>
                <a:sym typeface="Calibri"/>
              </a:rPr>
            </a:br>
            <a:r>
              <a:rPr b="1" i="1" lang="en-GB" sz="2400" u="none" cap="none" strike="noStrike">
                <a:solidFill>
                  <a:srgbClr val="000000"/>
                </a:solidFill>
                <a:latin typeface="Times New Roman"/>
                <a:ea typeface="Times New Roman"/>
                <a:cs typeface="Times New Roman"/>
                <a:sym typeface="Times New Roman"/>
              </a:rPr>
              <a:t>specialization in Internet Of Things (IoT)</a:t>
            </a:r>
            <a:endParaRPr/>
          </a:p>
          <a:p>
            <a:pPr indent="0" lvl="0" marL="0" marR="0" rtl="0" algn="ctr">
              <a:lnSpc>
                <a:spcPct val="150000"/>
              </a:lnSpc>
              <a:spcBef>
                <a:spcPts val="0"/>
              </a:spcBef>
              <a:spcAft>
                <a:spcPts val="0"/>
              </a:spcAft>
              <a:buNone/>
            </a:pPr>
            <a:r>
              <a:t/>
            </a:r>
            <a:endParaRPr b="0" i="1" sz="2400" u="none" cap="none" strike="noStrike">
              <a:solidFill>
                <a:srgbClr val="000000"/>
              </a:solidFill>
              <a:latin typeface="Calibri"/>
              <a:ea typeface="Calibri"/>
              <a:cs typeface="Calibri"/>
              <a:sym typeface="Calibri"/>
            </a:endParaRPr>
          </a:p>
        </p:txBody>
      </p:sp>
      <p:sp>
        <p:nvSpPr>
          <p:cNvPr id="264" name="Google Shape;264;p1"/>
          <p:cNvSpPr/>
          <p:nvPr/>
        </p:nvSpPr>
        <p:spPr>
          <a:xfrm flipH="1">
            <a:off x="9829797" y="5333999"/>
            <a:ext cx="2366623" cy="1600201"/>
          </a:xfrm>
          <a:prstGeom prst="rtTriangl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5" name="Google Shape;265;p1"/>
          <p:cNvSpPr txBox="1"/>
          <p:nvPr/>
        </p:nvSpPr>
        <p:spPr>
          <a:xfrm>
            <a:off x="6885780" y="6356350"/>
            <a:ext cx="492860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2000" u="none" cap="none" strike="noStrike">
                <a:solidFill>
                  <a:srgbClr val="595959"/>
                </a:solidFill>
                <a:latin typeface="Arial"/>
                <a:ea typeface="Arial"/>
                <a:cs typeface="Arial"/>
                <a:sym typeface="Arial"/>
              </a:rPr>
              <a:t>DISCOVER . </a:t>
            </a:r>
            <a:r>
              <a:rPr b="1" i="0" lang="en-GB" sz="2000" u="none" cap="none" strike="noStrike">
                <a:solidFill>
                  <a:srgbClr val="C00000"/>
                </a:solidFill>
                <a:latin typeface="Arial"/>
                <a:ea typeface="Arial"/>
                <a:cs typeface="Arial"/>
                <a:sym typeface="Arial"/>
              </a:rPr>
              <a:t>LEARN</a:t>
            </a:r>
            <a:r>
              <a:rPr b="1" i="0" lang="en-GB" sz="2000" u="none" cap="none" strike="noStrike">
                <a:solidFill>
                  <a:srgbClr val="595959"/>
                </a:solidFill>
                <a:latin typeface="Arial"/>
                <a:ea typeface="Arial"/>
                <a:cs typeface="Arial"/>
                <a:sym typeface="Arial"/>
              </a:rPr>
              <a:t> . EMPOWER</a:t>
            </a:r>
            <a:endParaRPr b="1" i="0" sz="12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1" i="0" sz="1600" u="none" cap="none" strike="noStrike">
              <a:solidFill>
                <a:schemeClr val="dk1"/>
              </a:solidFill>
              <a:latin typeface="Arial"/>
              <a:ea typeface="Arial"/>
              <a:cs typeface="Arial"/>
              <a:sym typeface="Arial"/>
            </a:endParaRPr>
          </a:p>
        </p:txBody>
      </p:sp>
      <p:sp>
        <p:nvSpPr>
          <p:cNvPr id="266" name="Google Shape;266;p1"/>
          <p:cNvSpPr/>
          <p:nvPr/>
        </p:nvSpPr>
        <p:spPr>
          <a:xfrm>
            <a:off x="6897507" y="6350855"/>
            <a:ext cx="45719" cy="37062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7" name="Google Shape;267;p1"/>
          <p:cNvSpPr txBox="1"/>
          <p:nvPr/>
        </p:nvSpPr>
        <p:spPr>
          <a:xfrm>
            <a:off x="-278296" y="6341603"/>
            <a:ext cx="5635362" cy="43088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i="0" lang="en-GB" sz="2400" u="none" cap="none" strike="noStrike">
                <a:solidFill>
                  <a:srgbClr val="FF0000"/>
                </a:solidFill>
                <a:latin typeface="Times New Roman"/>
                <a:ea typeface="Times New Roman"/>
                <a:cs typeface="Times New Roman"/>
                <a:sym typeface="Times New Roman"/>
              </a:rPr>
              <a:t>Department of AIT-CSE</a:t>
            </a:r>
            <a:endParaRPr b="0" i="0" sz="1600" u="none" cap="none" strike="noStrike">
              <a:solidFill>
                <a:srgbClr val="FF0000"/>
              </a:solidFill>
              <a:latin typeface="Times New Roman"/>
              <a:ea typeface="Times New Roman"/>
              <a:cs typeface="Times New Roman"/>
              <a:sym typeface="Times New Roman"/>
            </a:endParaRPr>
          </a:p>
        </p:txBody>
      </p:sp>
      <p:sp>
        <p:nvSpPr>
          <p:cNvPr id="268" name="Google Shape;268;p1"/>
          <p:cNvSpPr txBox="1"/>
          <p:nvPr/>
        </p:nvSpPr>
        <p:spPr>
          <a:xfrm>
            <a:off x="755374" y="175200"/>
            <a:ext cx="10944402"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3200" u="none" cap="none" strike="noStrike">
                <a:solidFill>
                  <a:schemeClr val="dk1"/>
                </a:solidFill>
                <a:latin typeface="Times New Roman"/>
                <a:ea typeface="Times New Roman"/>
                <a:cs typeface="Times New Roman"/>
                <a:sym typeface="Times New Roman"/>
              </a:rPr>
              <a:t>AquaMind: Blynk-Based Smart Irrigation System with Auto and Manual Mode for Efficient Water Management</a:t>
            </a:r>
            <a:endParaRPr b="1" i="0" sz="3200" u="none" cap="none" strike="noStrike">
              <a:solidFill>
                <a:schemeClr val="dk1"/>
              </a:solidFill>
              <a:latin typeface="Times New Roman"/>
              <a:ea typeface="Times New Roman"/>
              <a:cs typeface="Times New Roman"/>
              <a:sym typeface="Times New Roman"/>
            </a:endParaRPr>
          </a:p>
        </p:txBody>
      </p:sp>
      <p:sp>
        <p:nvSpPr>
          <p:cNvPr id="269" name="Google Shape;269;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70" name="Google Shape;270;p1"/>
          <p:cNvSpPr txBox="1"/>
          <p:nvPr/>
        </p:nvSpPr>
        <p:spPr>
          <a:xfrm>
            <a:off x="849727" y="4783050"/>
            <a:ext cx="3788700" cy="163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2000" u="none" cap="none" strike="noStrike">
                <a:solidFill>
                  <a:schemeClr val="dk1"/>
                </a:solidFill>
                <a:latin typeface="Times New Roman"/>
                <a:ea typeface="Times New Roman"/>
                <a:cs typeface="Times New Roman"/>
                <a:sym typeface="Times New Roman"/>
              </a:rPr>
              <a:t>Submitted by: </a:t>
            </a:r>
            <a:endParaRPr/>
          </a:p>
          <a:p>
            <a:pPr indent="0" lvl="0" marL="0" marR="0" rtl="0" algn="l">
              <a:spcBef>
                <a:spcPts val="0"/>
              </a:spcBef>
              <a:spcAft>
                <a:spcPts val="0"/>
              </a:spcAft>
              <a:buNone/>
            </a:pPr>
            <a:r>
              <a:rPr lang="en-GB" sz="2000">
                <a:solidFill>
                  <a:schemeClr val="dk1"/>
                </a:solidFill>
                <a:latin typeface="Times New Roman"/>
                <a:ea typeface="Times New Roman"/>
                <a:cs typeface="Times New Roman"/>
                <a:sym typeface="Times New Roman"/>
              </a:rPr>
              <a:t>Aman Jha (22BIT70031)</a:t>
            </a:r>
            <a:endParaRPr/>
          </a:p>
          <a:p>
            <a:pPr indent="0" lvl="0" marL="0" marR="0" rtl="0" algn="l">
              <a:spcBef>
                <a:spcPts val="0"/>
              </a:spcBef>
              <a:spcAft>
                <a:spcPts val="0"/>
              </a:spcAft>
              <a:buNone/>
            </a:pPr>
            <a:r>
              <a:rPr lang="en-GB" sz="2000">
                <a:solidFill>
                  <a:schemeClr val="dk1"/>
                </a:solidFill>
                <a:latin typeface="Times New Roman"/>
                <a:ea typeface="Times New Roman"/>
                <a:cs typeface="Times New Roman"/>
                <a:sym typeface="Times New Roman"/>
              </a:rPr>
              <a:t>Raunak Kumar (22BIT70008)</a:t>
            </a:r>
            <a:endParaRPr/>
          </a:p>
          <a:p>
            <a:pPr indent="0" lvl="0" marL="0" marR="0" rtl="0" algn="l">
              <a:spcBef>
                <a:spcPts val="0"/>
              </a:spcBef>
              <a:spcAft>
                <a:spcPts val="0"/>
              </a:spcAft>
              <a:buNone/>
            </a:pPr>
            <a:r>
              <a:rPr lang="en-GB" sz="2000">
                <a:solidFill>
                  <a:schemeClr val="dk1"/>
                </a:solidFill>
                <a:latin typeface="Times New Roman"/>
                <a:ea typeface="Times New Roman"/>
                <a:cs typeface="Times New Roman"/>
                <a:sym typeface="Times New Roman"/>
              </a:rPr>
              <a:t>Rishabh Kumar (22BIT70062)</a:t>
            </a:r>
            <a:endParaRPr/>
          </a:p>
          <a:p>
            <a:pPr indent="0" lvl="0" marL="0" marR="0" rtl="0" algn="l">
              <a:spcBef>
                <a:spcPts val="0"/>
              </a:spcBef>
              <a:spcAft>
                <a:spcPts val="0"/>
              </a:spcAft>
              <a:buNone/>
            </a:pPr>
            <a:r>
              <a:rPr lang="en-GB" sz="2000">
                <a:solidFill>
                  <a:schemeClr val="dk1"/>
                </a:solidFill>
                <a:latin typeface="Times New Roman"/>
                <a:ea typeface="Times New Roman"/>
                <a:cs typeface="Times New Roman"/>
                <a:sym typeface="Times New Roman"/>
              </a:rPr>
              <a:t>Vedant Sharma(22BIT70045)</a:t>
            </a:r>
            <a:endParaRPr/>
          </a:p>
        </p:txBody>
      </p:sp>
      <p:sp>
        <p:nvSpPr>
          <p:cNvPr id="271" name="Google Shape;271;p1"/>
          <p:cNvSpPr txBox="1"/>
          <p:nvPr/>
        </p:nvSpPr>
        <p:spPr>
          <a:xfrm>
            <a:off x="7982917" y="5244937"/>
            <a:ext cx="344312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000">
                <a:solidFill>
                  <a:schemeClr val="dk1"/>
                </a:solidFill>
                <a:latin typeface="Times New Roman"/>
                <a:ea typeface="Times New Roman"/>
                <a:cs typeface="Times New Roman"/>
                <a:sym typeface="Times New Roman"/>
              </a:rPr>
              <a:t>Under the Supervision of: </a:t>
            </a:r>
            <a:br>
              <a:rPr b="1" lang="en-GB" sz="2000">
                <a:solidFill>
                  <a:schemeClr val="dk1"/>
                </a:solidFill>
                <a:latin typeface="Times New Roman"/>
                <a:ea typeface="Times New Roman"/>
                <a:cs typeface="Times New Roman"/>
                <a:sym typeface="Times New Roman"/>
              </a:rPr>
            </a:br>
            <a:r>
              <a:rPr b="1" lang="en-GB" sz="2000">
                <a:solidFill>
                  <a:schemeClr val="dk1"/>
                </a:solidFill>
                <a:latin typeface="Times New Roman"/>
                <a:ea typeface="Times New Roman"/>
                <a:cs typeface="Times New Roman"/>
                <a:sym typeface="Times New Roman"/>
              </a:rPr>
              <a:t>Er. Abhishek Tiwari (E15792)</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
          <p:cNvSpPr txBox="1"/>
          <p:nvPr>
            <p:ph type="title"/>
          </p:nvPr>
        </p:nvSpPr>
        <p:spPr>
          <a:xfrm>
            <a:off x="885676" y="365126"/>
            <a:ext cx="10515600" cy="97620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Outline</a:t>
            </a:r>
            <a:endParaRPr/>
          </a:p>
        </p:txBody>
      </p:sp>
      <p:sp>
        <p:nvSpPr>
          <p:cNvPr id="277" name="Google Shape;277;p2"/>
          <p:cNvSpPr txBox="1"/>
          <p:nvPr>
            <p:ph idx="1" type="body"/>
          </p:nvPr>
        </p:nvSpPr>
        <p:spPr>
          <a:xfrm>
            <a:off x="838200" y="1588220"/>
            <a:ext cx="10515600" cy="495225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GB" sz="2400">
                <a:latin typeface="Times New Roman"/>
                <a:ea typeface="Times New Roman"/>
                <a:cs typeface="Times New Roman"/>
                <a:sym typeface="Times New Roman"/>
              </a:rPr>
              <a:t>Introduction to Project</a:t>
            </a:r>
            <a:endParaRPr/>
          </a:p>
          <a:p>
            <a:pPr indent="-228600" lvl="0" marL="228600" rtl="0" algn="l">
              <a:lnSpc>
                <a:spcPct val="90000"/>
              </a:lnSpc>
              <a:spcBef>
                <a:spcPts val="1000"/>
              </a:spcBef>
              <a:spcAft>
                <a:spcPts val="0"/>
              </a:spcAft>
              <a:buClr>
                <a:schemeClr val="dk1"/>
              </a:buClr>
              <a:buSzPts val="2400"/>
              <a:buChar char="•"/>
            </a:pPr>
            <a:r>
              <a:rPr lang="en-GB" sz="2400">
                <a:latin typeface="Times New Roman"/>
                <a:ea typeface="Times New Roman"/>
                <a:cs typeface="Times New Roman"/>
                <a:sym typeface="Times New Roman"/>
              </a:rPr>
              <a:t>Problem Formulation</a:t>
            </a:r>
            <a:endParaRPr/>
          </a:p>
          <a:p>
            <a:pPr indent="-228600" lvl="0" marL="228600" rtl="0" algn="l">
              <a:lnSpc>
                <a:spcPct val="90000"/>
              </a:lnSpc>
              <a:spcBef>
                <a:spcPts val="1000"/>
              </a:spcBef>
              <a:spcAft>
                <a:spcPts val="0"/>
              </a:spcAft>
              <a:buClr>
                <a:schemeClr val="dk1"/>
              </a:buClr>
              <a:buSzPts val="2400"/>
              <a:buChar char="•"/>
            </a:pPr>
            <a:r>
              <a:rPr lang="en-GB" sz="2400">
                <a:latin typeface="Times New Roman"/>
                <a:ea typeface="Times New Roman"/>
                <a:cs typeface="Times New Roman"/>
                <a:sym typeface="Times New Roman"/>
              </a:rPr>
              <a:t>Objectives of the work</a:t>
            </a:r>
            <a:endParaRPr/>
          </a:p>
          <a:p>
            <a:pPr indent="-228600" lvl="0" marL="228600" rtl="0" algn="l">
              <a:lnSpc>
                <a:spcPct val="90000"/>
              </a:lnSpc>
              <a:spcBef>
                <a:spcPts val="1000"/>
              </a:spcBef>
              <a:spcAft>
                <a:spcPts val="0"/>
              </a:spcAft>
              <a:buClr>
                <a:schemeClr val="dk1"/>
              </a:buClr>
              <a:buSzPts val="2400"/>
              <a:buChar char="•"/>
            </a:pPr>
            <a:r>
              <a:rPr lang="en-GB" sz="2400">
                <a:latin typeface="Times New Roman"/>
                <a:ea typeface="Times New Roman"/>
                <a:cs typeface="Times New Roman"/>
                <a:sym typeface="Times New Roman"/>
              </a:rPr>
              <a:t>Hardware  requirement </a:t>
            </a:r>
            <a:endParaRPr/>
          </a:p>
          <a:p>
            <a:pPr indent="-228600" lvl="0" marL="228600" rtl="0" algn="l">
              <a:lnSpc>
                <a:spcPct val="90000"/>
              </a:lnSpc>
              <a:spcBef>
                <a:spcPts val="1000"/>
              </a:spcBef>
              <a:spcAft>
                <a:spcPts val="0"/>
              </a:spcAft>
              <a:buClr>
                <a:schemeClr val="dk1"/>
              </a:buClr>
              <a:buSzPts val="2400"/>
              <a:buChar char="•"/>
            </a:pPr>
            <a:r>
              <a:rPr lang="en-GB" sz="2400">
                <a:latin typeface="Times New Roman"/>
                <a:ea typeface="Times New Roman"/>
                <a:cs typeface="Times New Roman"/>
                <a:sym typeface="Times New Roman"/>
              </a:rPr>
              <a:t>Methodology to be used</a:t>
            </a:r>
            <a:endParaRPr/>
          </a:p>
          <a:p>
            <a:pPr indent="-228600" lvl="0" marL="228600" rtl="0" algn="l">
              <a:lnSpc>
                <a:spcPct val="90000"/>
              </a:lnSpc>
              <a:spcBef>
                <a:spcPts val="1000"/>
              </a:spcBef>
              <a:spcAft>
                <a:spcPts val="0"/>
              </a:spcAft>
              <a:buClr>
                <a:schemeClr val="dk1"/>
              </a:buClr>
              <a:buSzPts val="2400"/>
              <a:buChar char="•"/>
            </a:pPr>
            <a:r>
              <a:rPr lang="en-GB" sz="2400">
                <a:latin typeface="Times New Roman"/>
                <a:ea typeface="Times New Roman"/>
                <a:cs typeface="Times New Roman"/>
                <a:sym typeface="Times New Roman"/>
              </a:rPr>
              <a:t>Literature Review </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Char char="•"/>
            </a:pPr>
            <a:r>
              <a:rPr lang="en-GB" sz="2400">
                <a:latin typeface="Times New Roman"/>
                <a:ea typeface="Times New Roman"/>
                <a:cs typeface="Times New Roman"/>
                <a:sym typeface="Times New Roman"/>
              </a:rPr>
              <a:t>Conclusion</a:t>
            </a:r>
            <a:endParaRPr/>
          </a:p>
          <a:p>
            <a:pPr indent="-228600" lvl="0" marL="228600" rtl="0" algn="l">
              <a:lnSpc>
                <a:spcPct val="90000"/>
              </a:lnSpc>
              <a:spcBef>
                <a:spcPts val="1000"/>
              </a:spcBef>
              <a:spcAft>
                <a:spcPts val="0"/>
              </a:spcAft>
              <a:buClr>
                <a:schemeClr val="dk1"/>
              </a:buClr>
              <a:buSzPts val="2400"/>
              <a:buChar char="•"/>
            </a:pPr>
            <a:r>
              <a:rPr lang="en-GB" sz="2400">
                <a:latin typeface="Times New Roman"/>
                <a:ea typeface="Times New Roman"/>
                <a:cs typeface="Times New Roman"/>
                <a:sym typeface="Times New Roman"/>
              </a:rPr>
              <a:t>Future Scope</a:t>
            </a:r>
            <a:endParaRPr/>
          </a:p>
          <a:p>
            <a:pPr indent="-228600" lvl="0" marL="228600" rtl="0" algn="l">
              <a:lnSpc>
                <a:spcPct val="90000"/>
              </a:lnSpc>
              <a:spcBef>
                <a:spcPts val="1000"/>
              </a:spcBef>
              <a:spcAft>
                <a:spcPts val="0"/>
              </a:spcAft>
              <a:buClr>
                <a:schemeClr val="dk1"/>
              </a:buClr>
              <a:buSzPts val="2400"/>
              <a:buChar char="•"/>
            </a:pPr>
            <a:r>
              <a:rPr lang="en-GB" sz="2400">
                <a:latin typeface="Times New Roman"/>
                <a:ea typeface="Times New Roman"/>
                <a:cs typeface="Times New Roman"/>
                <a:sym typeface="Times New Roman"/>
              </a:rPr>
              <a:t>References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78" name="Google Shape;27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
          <p:cNvSpPr txBox="1"/>
          <p:nvPr>
            <p:ph type="title"/>
          </p:nvPr>
        </p:nvSpPr>
        <p:spPr>
          <a:xfrm>
            <a:off x="838200" y="183197"/>
            <a:ext cx="10515600" cy="94580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Introduction to AquaMind</a:t>
            </a:r>
            <a:endParaRPr b="1">
              <a:latin typeface="Times New Roman"/>
              <a:ea typeface="Times New Roman"/>
              <a:cs typeface="Times New Roman"/>
              <a:sym typeface="Times New Roman"/>
            </a:endParaRPr>
          </a:p>
        </p:txBody>
      </p:sp>
      <p:sp>
        <p:nvSpPr>
          <p:cNvPr id="284" name="Google Shape;284;p3"/>
          <p:cNvSpPr txBox="1"/>
          <p:nvPr>
            <p:ph idx="1" type="body"/>
          </p:nvPr>
        </p:nvSpPr>
        <p:spPr>
          <a:xfrm>
            <a:off x="390330" y="1231641"/>
            <a:ext cx="11411339" cy="5489834"/>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200"/>
              <a:buNone/>
            </a:pPr>
            <a:r>
              <a:rPr b="1" lang="en-GB" sz="2200">
                <a:latin typeface="Times New Roman"/>
                <a:ea typeface="Times New Roman"/>
                <a:cs typeface="Times New Roman"/>
                <a:sym typeface="Times New Roman"/>
              </a:rPr>
              <a:t>AquaMind</a:t>
            </a:r>
            <a:r>
              <a:rPr lang="en-GB" sz="2200">
                <a:latin typeface="Times New Roman"/>
                <a:ea typeface="Times New Roman"/>
                <a:cs typeface="Times New Roman"/>
                <a:sym typeface="Times New Roman"/>
              </a:rPr>
              <a:t> is an innovative IoT-based smart irrigation system designed to automate and optimize the process of watering plants using real-time soil moisture data and intelligent control mechanisms. The primary objective of AquaMind is to conserve water, reduce human effort, and ensure that crops receive the right amount of water at the right time.</a:t>
            </a:r>
            <a:endParaRPr/>
          </a:p>
          <a:p>
            <a:pPr indent="0" lvl="0" marL="0" rtl="0" algn="just">
              <a:lnSpc>
                <a:spcPct val="90000"/>
              </a:lnSpc>
              <a:spcBef>
                <a:spcPts val="1000"/>
              </a:spcBef>
              <a:spcAft>
                <a:spcPts val="0"/>
              </a:spcAft>
              <a:buClr>
                <a:schemeClr val="dk1"/>
              </a:buClr>
              <a:buSzPts val="2200"/>
              <a:buNone/>
            </a:pPr>
            <a:r>
              <a:rPr b="1" lang="en-GB" sz="2200">
                <a:latin typeface="Times New Roman"/>
                <a:ea typeface="Times New Roman"/>
                <a:cs typeface="Times New Roman"/>
                <a:sym typeface="Times New Roman"/>
              </a:rPr>
              <a:t>       Its Need? </a:t>
            </a:r>
            <a:endParaRPr/>
          </a:p>
          <a:p>
            <a:pPr indent="-228600" lvl="1" marL="685800" rtl="0" algn="just">
              <a:lnSpc>
                <a:spcPct val="90000"/>
              </a:lnSpc>
              <a:spcBef>
                <a:spcPts val="500"/>
              </a:spcBef>
              <a:spcAft>
                <a:spcPts val="0"/>
              </a:spcAft>
              <a:buClr>
                <a:schemeClr val="dk1"/>
              </a:buClr>
              <a:buSzPts val="2200"/>
              <a:buChar char="•"/>
            </a:pPr>
            <a:r>
              <a:rPr lang="en-GB" sz="2200">
                <a:latin typeface="Times New Roman"/>
                <a:ea typeface="Times New Roman"/>
                <a:cs typeface="Times New Roman"/>
                <a:sym typeface="Times New Roman"/>
              </a:rPr>
              <a:t>Water Scarcity and Over-Irrigation:</a:t>
            </a:r>
            <a:endParaRPr/>
          </a:p>
          <a:p>
            <a:pPr indent="-228600" lvl="1" marL="685800" rtl="0" algn="just">
              <a:lnSpc>
                <a:spcPct val="90000"/>
              </a:lnSpc>
              <a:spcBef>
                <a:spcPts val="500"/>
              </a:spcBef>
              <a:spcAft>
                <a:spcPts val="0"/>
              </a:spcAft>
              <a:buClr>
                <a:schemeClr val="dk1"/>
              </a:buClr>
              <a:buSzPts val="2200"/>
              <a:buChar char="•"/>
            </a:pPr>
            <a:r>
              <a:rPr lang="en-GB" sz="2200">
                <a:latin typeface="Times New Roman"/>
                <a:ea typeface="Times New Roman"/>
                <a:cs typeface="Times New Roman"/>
                <a:sym typeface="Times New Roman"/>
              </a:rPr>
              <a:t>System Safety and Reliability:</a:t>
            </a:r>
            <a:endParaRPr/>
          </a:p>
          <a:p>
            <a:pPr indent="-228600" lvl="1" marL="685800" rtl="0" algn="just">
              <a:lnSpc>
                <a:spcPct val="90000"/>
              </a:lnSpc>
              <a:spcBef>
                <a:spcPts val="500"/>
              </a:spcBef>
              <a:spcAft>
                <a:spcPts val="0"/>
              </a:spcAft>
              <a:buClr>
                <a:schemeClr val="dk1"/>
              </a:buClr>
              <a:buSzPts val="2200"/>
              <a:buChar char="•"/>
            </a:pPr>
            <a:r>
              <a:rPr lang="en-GB" sz="2200">
                <a:latin typeface="Times New Roman"/>
                <a:ea typeface="Times New Roman"/>
                <a:cs typeface="Times New Roman"/>
                <a:sym typeface="Times New Roman"/>
              </a:rPr>
              <a:t>Sustainable Agriculture:</a:t>
            </a:r>
            <a:endParaRPr/>
          </a:p>
          <a:p>
            <a:pPr indent="-88900" lvl="1" marL="685800" rtl="0" algn="just">
              <a:lnSpc>
                <a:spcPct val="90000"/>
              </a:lnSpc>
              <a:spcBef>
                <a:spcPts val="500"/>
              </a:spcBef>
              <a:spcAft>
                <a:spcPts val="0"/>
              </a:spcAft>
              <a:buClr>
                <a:schemeClr val="dk1"/>
              </a:buClr>
              <a:buSzPts val="2200"/>
              <a:buNone/>
            </a:pPr>
            <a:r>
              <a:t/>
            </a:r>
            <a:endParaRPr sz="2200">
              <a:latin typeface="Times New Roman"/>
              <a:ea typeface="Times New Roman"/>
              <a:cs typeface="Times New Roman"/>
              <a:sym typeface="Times New Roman"/>
            </a:endParaRPr>
          </a:p>
          <a:p>
            <a:pPr indent="0" lvl="1" marL="457200" rtl="0" algn="just">
              <a:lnSpc>
                <a:spcPct val="90000"/>
              </a:lnSpc>
              <a:spcBef>
                <a:spcPts val="500"/>
              </a:spcBef>
              <a:spcAft>
                <a:spcPts val="0"/>
              </a:spcAft>
              <a:buClr>
                <a:schemeClr val="dk1"/>
              </a:buClr>
              <a:buSzPts val="2200"/>
              <a:buNone/>
            </a:pPr>
            <a:r>
              <a:rPr b="1" lang="en-GB" sz="2200">
                <a:latin typeface="Times New Roman"/>
                <a:ea typeface="Times New Roman"/>
                <a:cs typeface="Times New Roman"/>
                <a:sym typeface="Times New Roman"/>
              </a:rPr>
              <a:t>Why AquaMind?</a:t>
            </a:r>
            <a:endParaRPr/>
          </a:p>
          <a:p>
            <a:pPr indent="-228600" lvl="1" marL="685800" rtl="0" algn="just">
              <a:lnSpc>
                <a:spcPct val="90000"/>
              </a:lnSpc>
              <a:spcBef>
                <a:spcPts val="500"/>
              </a:spcBef>
              <a:spcAft>
                <a:spcPts val="0"/>
              </a:spcAft>
              <a:buClr>
                <a:schemeClr val="dk1"/>
              </a:buClr>
              <a:buSzPts val="2200"/>
              <a:buChar char="•"/>
            </a:pPr>
            <a:r>
              <a:rPr lang="en-GB" sz="2200">
                <a:latin typeface="Times New Roman"/>
                <a:ea typeface="Times New Roman"/>
                <a:cs typeface="Times New Roman"/>
                <a:sym typeface="Times New Roman"/>
              </a:rPr>
              <a:t>The system “thinks before watering” by analysing real-time soil moisture data and making automatic decisions.​</a:t>
            </a:r>
            <a:endParaRPr/>
          </a:p>
          <a:p>
            <a:pPr indent="-228600" lvl="1" marL="685800" rtl="0" algn="just">
              <a:lnSpc>
                <a:spcPct val="90000"/>
              </a:lnSpc>
              <a:spcBef>
                <a:spcPts val="500"/>
              </a:spcBef>
              <a:spcAft>
                <a:spcPts val="0"/>
              </a:spcAft>
              <a:buClr>
                <a:schemeClr val="dk1"/>
              </a:buClr>
              <a:buSzPts val="2200"/>
              <a:buChar char="•"/>
            </a:pPr>
            <a:r>
              <a:rPr lang="en-GB" sz="2200">
                <a:latin typeface="Times New Roman"/>
                <a:ea typeface="Times New Roman"/>
                <a:cs typeface="Times New Roman"/>
                <a:sym typeface="Times New Roman"/>
              </a:rPr>
              <a:t>Offers both automatic and manual control via IoT (Blynk app), ensuring flexibility and user control.</a:t>
            </a:r>
            <a:endParaRPr/>
          </a:p>
          <a:p>
            <a:pPr indent="-228600" lvl="1" marL="685800" rtl="0" algn="just">
              <a:lnSpc>
                <a:spcPct val="90000"/>
              </a:lnSpc>
              <a:spcBef>
                <a:spcPts val="500"/>
              </a:spcBef>
              <a:spcAft>
                <a:spcPts val="0"/>
              </a:spcAft>
              <a:buClr>
                <a:schemeClr val="dk1"/>
              </a:buClr>
              <a:buSzPts val="2200"/>
              <a:buChar char="•"/>
            </a:pPr>
            <a:r>
              <a:rPr lang="en-GB" sz="2200">
                <a:latin typeface="Times New Roman"/>
                <a:ea typeface="Times New Roman"/>
                <a:cs typeface="Times New Roman"/>
                <a:sym typeface="Times New Roman"/>
              </a:rPr>
              <a:t>Includes a safety override to protect against Wi-Fi disconnection, sensor failure, or abnormal readings</a:t>
            </a:r>
            <a:r>
              <a:rPr lang="en-GB" sz="2800"/>
              <a:t>.</a:t>
            </a:r>
            <a:endParaRPr b="0" i="0" sz="2600">
              <a:latin typeface="Times New Roman"/>
              <a:ea typeface="Times New Roman"/>
              <a:cs typeface="Times New Roman"/>
              <a:sym typeface="Times New Roman"/>
            </a:endParaRPr>
          </a:p>
        </p:txBody>
      </p:sp>
      <p:sp>
        <p:nvSpPr>
          <p:cNvPr id="285" name="Google Shape;28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
          <p:cNvSpPr txBox="1"/>
          <p:nvPr>
            <p:ph type="title"/>
          </p:nvPr>
        </p:nvSpPr>
        <p:spPr>
          <a:xfrm>
            <a:off x="838200" y="136526"/>
            <a:ext cx="10515600" cy="98314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Problem Formulation</a:t>
            </a:r>
            <a:endParaRPr/>
          </a:p>
        </p:txBody>
      </p:sp>
      <p:sp>
        <p:nvSpPr>
          <p:cNvPr id="291" name="Google Shape;291;p4"/>
          <p:cNvSpPr txBox="1"/>
          <p:nvPr>
            <p:ph idx="1" type="body"/>
          </p:nvPr>
        </p:nvSpPr>
        <p:spPr>
          <a:xfrm>
            <a:off x="447869" y="1362270"/>
            <a:ext cx="10905931" cy="499408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500"/>
              <a:buNone/>
            </a:pPr>
            <a:r>
              <a:rPr lang="en-GB" sz="2500">
                <a:latin typeface="Times New Roman"/>
                <a:ea typeface="Times New Roman"/>
                <a:cs typeface="Times New Roman"/>
                <a:sym typeface="Times New Roman"/>
              </a:rPr>
              <a:t>Challenges in Traditional Irrigation System:​</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Manual Operation &amp; Human Dependency: </a:t>
            </a:r>
            <a:r>
              <a:rPr lang="en-GB" sz="2500">
                <a:latin typeface="Times New Roman"/>
                <a:ea typeface="Times New Roman"/>
                <a:cs typeface="Times New Roman"/>
                <a:sym typeface="Times New Roman"/>
              </a:rPr>
              <a:t>Farmers had to turn pumps on/off manually, leading to irregular watering and water wastage.</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No Real-Time Monitoring:</a:t>
            </a:r>
            <a:r>
              <a:rPr lang="en-GB" sz="2500">
                <a:latin typeface="Times New Roman"/>
                <a:ea typeface="Times New Roman"/>
                <a:cs typeface="Times New Roman"/>
                <a:sym typeface="Times New Roman"/>
              </a:rPr>
              <a:t> Earlier systems lacked soil moisture sensing, causing over- or under-irrigation.</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No Safety Mechanism:</a:t>
            </a:r>
            <a:r>
              <a:rPr lang="en-GB" sz="2500">
                <a:latin typeface="Times New Roman"/>
                <a:ea typeface="Times New Roman"/>
                <a:cs typeface="Times New Roman"/>
                <a:sym typeface="Times New Roman"/>
              </a:rPr>
              <a:t> Systems failed to stop automatically during sensor faults or network loss.</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No Data Insight:</a:t>
            </a:r>
            <a:r>
              <a:rPr lang="en-GB" sz="2500">
                <a:latin typeface="Times New Roman"/>
                <a:ea typeface="Times New Roman"/>
                <a:cs typeface="Times New Roman"/>
                <a:sym typeface="Times New Roman"/>
              </a:rPr>
              <a:t> Older systems provided no data visualization or control analytics for optimization.</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No Adaptive Feedback:</a:t>
            </a:r>
            <a:r>
              <a:rPr lang="en-GB" sz="2500">
                <a:latin typeface="Times New Roman"/>
                <a:ea typeface="Times New Roman"/>
                <a:cs typeface="Times New Roman"/>
                <a:sym typeface="Times New Roman"/>
              </a:rPr>
              <a:t> There was no hysteresis or feedback logic to stabilize pump operation.</a:t>
            </a:r>
            <a:endParaRPr sz="2500">
              <a:latin typeface="Times New Roman"/>
              <a:ea typeface="Times New Roman"/>
              <a:cs typeface="Times New Roman"/>
              <a:sym typeface="Times New Roman"/>
            </a:endParaRPr>
          </a:p>
          <a:p>
            <a:pPr indent="-63500" lvl="0" marL="228600" rtl="0" algn="just">
              <a:lnSpc>
                <a:spcPct val="90000"/>
              </a:lnSpc>
              <a:spcBef>
                <a:spcPts val="1000"/>
              </a:spcBef>
              <a:spcAft>
                <a:spcPts val="0"/>
              </a:spcAft>
              <a:buClr>
                <a:schemeClr val="dk1"/>
              </a:buClr>
              <a:buSzPts val="2600"/>
              <a:buNone/>
            </a:pPr>
            <a:r>
              <a:t/>
            </a:r>
            <a:endParaRPr sz="2600">
              <a:latin typeface="Times New Roman"/>
              <a:ea typeface="Times New Roman"/>
              <a:cs typeface="Times New Roman"/>
              <a:sym typeface="Times New Roman"/>
            </a:endParaRPr>
          </a:p>
        </p:txBody>
      </p:sp>
      <p:sp>
        <p:nvSpPr>
          <p:cNvPr id="292" name="Google Shape;29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
          <p:cNvSpPr txBox="1"/>
          <p:nvPr>
            <p:ph type="title"/>
          </p:nvPr>
        </p:nvSpPr>
        <p:spPr>
          <a:xfrm>
            <a:off x="838200" y="136525"/>
            <a:ext cx="10515600" cy="102047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Objectives of the Work</a:t>
            </a:r>
            <a:endParaRPr/>
          </a:p>
        </p:txBody>
      </p:sp>
      <p:sp>
        <p:nvSpPr>
          <p:cNvPr id="298" name="Google Shape;298;p5"/>
          <p:cNvSpPr txBox="1"/>
          <p:nvPr>
            <p:ph idx="1" type="body"/>
          </p:nvPr>
        </p:nvSpPr>
        <p:spPr>
          <a:xfrm>
            <a:off x="438539" y="1306286"/>
            <a:ext cx="10915261" cy="5261567"/>
          </a:xfrm>
          <a:prstGeom prst="rect">
            <a:avLst/>
          </a:prstGeom>
          <a:noFill/>
          <a:ln>
            <a:noFill/>
          </a:ln>
        </p:spPr>
        <p:txBody>
          <a:bodyPr anchorCtr="0" anchor="t" bIns="45700" lIns="91425" spcFirstLastPara="1" rIns="91425" wrap="square" tIns="45700">
            <a:normAutofit/>
          </a:bodyPr>
          <a:lstStyle/>
          <a:p>
            <a:pPr indent="-514350" lvl="0" marL="514350" rtl="0" algn="just">
              <a:lnSpc>
                <a:spcPct val="90000"/>
              </a:lnSpc>
              <a:spcBef>
                <a:spcPts val="0"/>
              </a:spcBef>
              <a:spcAft>
                <a:spcPts val="0"/>
              </a:spcAft>
              <a:buClr>
                <a:schemeClr val="dk1"/>
              </a:buClr>
              <a:buSzPts val="2600"/>
              <a:buFont typeface="Calibri"/>
              <a:buAutoNum type="arabicPeriod"/>
            </a:pPr>
            <a:r>
              <a:rPr b="1" lang="en-GB" sz="2600">
                <a:latin typeface="Times New Roman"/>
                <a:ea typeface="Times New Roman"/>
                <a:cs typeface="Times New Roman"/>
                <a:sym typeface="Times New Roman"/>
              </a:rPr>
              <a:t>Automatic Irrigation Control: </a:t>
            </a:r>
            <a:r>
              <a:rPr lang="en-GB" sz="2600">
                <a:latin typeface="Times New Roman"/>
                <a:ea typeface="Times New Roman"/>
                <a:cs typeface="Times New Roman"/>
                <a:sym typeface="Times New Roman"/>
              </a:rPr>
              <a:t>To design a smart system that automatically regulates water flow based on real-time soil moisture levels.</a:t>
            </a:r>
            <a:endParaRPr/>
          </a:p>
          <a:p>
            <a:pPr indent="-514350" lvl="0" marL="514350" rtl="0" algn="just">
              <a:lnSpc>
                <a:spcPct val="90000"/>
              </a:lnSpc>
              <a:spcBef>
                <a:spcPts val="1000"/>
              </a:spcBef>
              <a:spcAft>
                <a:spcPts val="0"/>
              </a:spcAft>
              <a:buClr>
                <a:schemeClr val="dk1"/>
              </a:buClr>
              <a:buSzPts val="2600"/>
              <a:buFont typeface="Calibri"/>
              <a:buAutoNum type="arabicPeriod"/>
            </a:pPr>
            <a:r>
              <a:rPr b="1" lang="en-GB" sz="2600">
                <a:latin typeface="Times New Roman"/>
                <a:ea typeface="Times New Roman"/>
                <a:cs typeface="Times New Roman"/>
                <a:sym typeface="Times New Roman"/>
              </a:rPr>
              <a:t>Dual-Mode Operation: </a:t>
            </a:r>
            <a:r>
              <a:rPr lang="en-GB" sz="2600">
                <a:latin typeface="Times New Roman"/>
                <a:ea typeface="Times New Roman"/>
                <a:cs typeface="Times New Roman"/>
                <a:sym typeface="Times New Roman"/>
              </a:rPr>
              <a:t>To provide both automatic and manual modes for flexible and user-friendly irrigation control.</a:t>
            </a:r>
            <a:endParaRPr/>
          </a:p>
          <a:p>
            <a:pPr indent="-514350" lvl="0" marL="514350" rtl="0" algn="just">
              <a:lnSpc>
                <a:spcPct val="90000"/>
              </a:lnSpc>
              <a:spcBef>
                <a:spcPts val="1000"/>
              </a:spcBef>
              <a:spcAft>
                <a:spcPts val="0"/>
              </a:spcAft>
              <a:buClr>
                <a:schemeClr val="dk1"/>
              </a:buClr>
              <a:buSzPts val="2600"/>
              <a:buFont typeface="Calibri"/>
              <a:buAutoNum type="arabicPeriod"/>
            </a:pPr>
            <a:r>
              <a:rPr b="1" lang="en-GB" sz="2600">
                <a:latin typeface="Times New Roman"/>
                <a:ea typeface="Times New Roman"/>
                <a:cs typeface="Times New Roman"/>
                <a:sym typeface="Times New Roman"/>
              </a:rPr>
              <a:t>IoT-Based Monitoring: </a:t>
            </a:r>
            <a:r>
              <a:rPr lang="en-GB" sz="2600">
                <a:latin typeface="Times New Roman"/>
                <a:ea typeface="Times New Roman"/>
                <a:cs typeface="Times New Roman"/>
                <a:sym typeface="Times New Roman"/>
              </a:rPr>
              <a:t>To integrate the Blynk IoT platform for real-time monitoring, data visualization, and remote pump operation.</a:t>
            </a:r>
            <a:endParaRPr/>
          </a:p>
          <a:p>
            <a:pPr indent="-514350" lvl="0" marL="514350" rtl="0" algn="just">
              <a:lnSpc>
                <a:spcPct val="90000"/>
              </a:lnSpc>
              <a:spcBef>
                <a:spcPts val="1000"/>
              </a:spcBef>
              <a:spcAft>
                <a:spcPts val="0"/>
              </a:spcAft>
              <a:buClr>
                <a:schemeClr val="dk1"/>
              </a:buClr>
              <a:buSzPts val="2600"/>
              <a:buFont typeface="Calibri"/>
              <a:buAutoNum type="arabicPeriod"/>
            </a:pPr>
            <a:r>
              <a:rPr b="1" lang="en-GB" sz="2600">
                <a:latin typeface="Times New Roman"/>
                <a:ea typeface="Times New Roman"/>
                <a:cs typeface="Times New Roman"/>
                <a:sym typeface="Times New Roman"/>
              </a:rPr>
              <a:t>Adaptive Feedback Mechanism: </a:t>
            </a:r>
            <a:r>
              <a:rPr lang="en-GB" sz="2600">
                <a:latin typeface="Times New Roman"/>
                <a:ea typeface="Times New Roman"/>
                <a:cs typeface="Times New Roman"/>
                <a:sym typeface="Times New Roman"/>
              </a:rPr>
              <a:t>To implement hysteresis logic for stable pump control and reduced switching frequency.</a:t>
            </a:r>
            <a:endParaRPr/>
          </a:p>
          <a:p>
            <a:pPr indent="-514350" lvl="0" marL="514350" rtl="0" algn="just">
              <a:lnSpc>
                <a:spcPct val="90000"/>
              </a:lnSpc>
              <a:spcBef>
                <a:spcPts val="1000"/>
              </a:spcBef>
              <a:spcAft>
                <a:spcPts val="0"/>
              </a:spcAft>
              <a:buClr>
                <a:schemeClr val="dk1"/>
              </a:buClr>
              <a:buSzPts val="2600"/>
              <a:buFont typeface="Calibri"/>
              <a:buAutoNum type="arabicPeriod"/>
            </a:pPr>
            <a:r>
              <a:rPr b="1" lang="en-GB" sz="2600">
                <a:latin typeface="Times New Roman"/>
                <a:ea typeface="Times New Roman"/>
                <a:cs typeface="Times New Roman"/>
                <a:sym typeface="Times New Roman"/>
              </a:rPr>
              <a:t>Interactive Dashboard: </a:t>
            </a:r>
            <a:r>
              <a:rPr lang="en-GB" sz="2600">
                <a:latin typeface="Times New Roman"/>
                <a:ea typeface="Times New Roman"/>
                <a:cs typeface="Times New Roman"/>
                <a:sym typeface="Times New Roman"/>
              </a:rPr>
              <a:t>Develop visualization tools with real-time notifications for stakeholders​</a:t>
            </a:r>
            <a:endParaRPr/>
          </a:p>
          <a:p>
            <a:pPr indent="-514350" lvl="0" marL="514350" rtl="0" algn="just">
              <a:lnSpc>
                <a:spcPct val="90000"/>
              </a:lnSpc>
              <a:spcBef>
                <a:spcPts val="1000"/>
              </a:spcBef>
              <a:spcAft>
                <a:spcPts val="0"/>
              </a:spcAft>
              <a:buClr>
                <a:schemeClr val="dk1"/>
              </a:buClr>
              <a:buSzPts val="2600"/>
              <a:buFont typeface="Calibri"/>
              <a:buAutoNum type="arabicPeriod"/>
            </a:pPr>
            <a:r>
              <a:rPr b="1" lang="en-GB" sz="2600">
                <a:latin typeface="Times New Roman"/>
                <a:ea typeface="Times New Roman"/>
                <a:cs typeface="Times New Roman"/>
                <a:sym typeface="Times New Roman"/>
              </a:rPr>
              <a:t>Safety and Reliability: </a:t>
            </a:r>
            <a:r>
              <a:rPr lang="en-GB" sz="2600">
                <a:latin typeface="Times New Roman"/>
                <a:ea typeface="Times New Roman"/>
                <a:cs typeface="Times New Roman"/>
                <a:sym typeface="Times New Roman"/>
              </a:rPr>
              <a:t>To add a safety override mechanism for protection during sensor failure or WiFi disconnection.</a:t>
            </a:r>
            <a:endParaRPr/>
          </a:p>
          <a:p>
            <a:pPr indent="0" lvl="0" marL="0" rtl="0" algn="just">
              <a:lnSpc>
                <a:spcPct val="90000"/>
              </a:lnSpc>
              <a:spcBef>
                <a:spcPts val="1000"/>
              </a:spcBef>
              <a:spcAft>
                <a:spcPts val="0"/>
              </a:spcAft>
              <a:buClr>
                <a:schemeClr val="dk1"/>
              </a:buClr>
              <a:buSzPts val="2600"/>
              <a:buNone/>
            </a:pPr>
            <a:r>
              <a:t/>
            </a:r>
            <a:endParaRPr sz="2600">
              <a:latin typeface="Times New Roman"/>
              <a:ea typeface="Times New Roman"/>
              <a:cs typeface="Times New Roman"/>
              <a:sym typeface="Times New Roman"/>
            </a:endParaRPr>
          </a:p>
        </p:txBody>
      </p:sp>
      <p:sp>
        <p:nvSpPr>
          <p:cNvPr id="299" name="Google Shape;29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6"/>
          <p:cNvSpPr txBox="1"/>
          <p:nvPr>
            <p:ph type="title"/>
          </p:nvPr>
        </p:nvSpPr>
        <p:spPr>
          <a:xfrm>
            <a:off x="838200" y="136525"/>
            <a:ext cx="10515600" cy="9924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Hardware requirement</a:t>
            </a:r>
            <a:endParaRPr/>
          </a:p>
        </p:txBody>
      </p:sp>
      <p:sp>
        <p:nvSpPr>
          <p:cNvPr id="305" name="Google Shape;305;p6"/>
          <p:cNvSpPr txBox="1"/>
          <p:nvPr>
            <p:ph idx="1" type="body"/>
          </p:nvPr>
        </p:nvSpPr>
        <p:spPr>
          <a:xfrm>
            <a:off x="502297" y="1258513"/>
            <a:ext cx="11266150" cy="258959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GB" sz="3600">
                <a:latin typeface="Times New Roman"/>
                <a:ea typeface="Times New Roman"/>
                <a:cs typeface="Times New Roman"/>
                <a:sym typeface="Times New Roman"/>
              </a:rPr>
              <a:t>Sensors:​</a:t>
            </a:r>
            <a:endParaRPr/>
          </a:p>
          <a:p>
            <a:pPr indent="-228600" lvl="0" marL="228600" rtl="0" algn="l">
              <a:lnSpc>
                <a:spcPct val="90000"/>
              </a:lnSpc>
              <a:spcBef>
                <a:spcPts val="1000"/>
              </a:spcBef>
              <a:spcAft>
                <a:spcPts val="0"/>
              </a:spcAft>
              <a:buClr>
                <a:schemeClr val="dk1"/>
              </a:buClr>
              <a:buSzPct val="100000"/>
              <a:buChar char="•"/>
            </a:pPr>
            <a:r>
              <a:rPr b="1" lang="en-GB" sz="2500">
                <a:latin typeface="Times New Roman"/>
                <a:ea typeface="Times New Roman"/>
                <a:cs typeface="Times New Roman"/>
                <a:sym typeface="Times New Roman"/>
              </a:rPr>
              <a:t>Soil Moisture Sensor: </a:t>
            </a:r>
            <a:r>
              <a:rPr lang="en-GB" sz="2500">
                <a:latin typeface="Times New Roman"/>
                <a:ea typeface="Times New Roman"/>
                <a:cs typeface="Times New Roman"/>
                <a:sym typeface="Times New Roman"/>
              </a:rPr>
              <a:t>Detects the water content in the soil and helps determine when irrigation is needed.</a:t>
            </a:r>
            <a:endParaRPr sz="25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GB" sz="2500">
                <a:latin typeface="Times New Roman"/>
                <a:ea typeface="Times New Roman"/>
                <a:cs typeface="Times New Roman"/>
                <a:sym typeface="Times New Roman"/>
              </a:rPr>
              <a:t>DHT11 / DHT22 Sensor : </a:t>
            </a:r>
            <a:r>
              <a:rPr lang="en-GB" sz="2500">
                <a:latin typeface="Times New Roman"/>
                <a:ea typeface="Times New Roman"/>
                <a:cs typeface="Times New Roman"/>
                <a:sym typeface="Times New Roman"/>
              </a:rPr>
              <a:t>Measures ambient temperature and humidity to enhance irrigation decisions.</a:t>
            </a:r>
            <a:endParaRPr/>
          </a:p>
          <a:p>
            <a:pPr indent="-228600" lvl="0" marL="228600" rtl="0" algn="l">
              <a:lnSpc>
                <a:spcPct val="90000"/>
              </a:lnSpc>
              <a:spcBef>
                <a:spcPts val="1000"/>
              </a:spcBef>
              <a:spcAft>
                <a:spcPts val="0"/>
              </a:spcAft>
              <a:buClr>
                <a:schemeClr val="dk1"/>
              </a:buClr>
              <a:buSzPct val="100000"/>
              <a:buChar char="•"/>
            </a:pPr>
            <a:r>
              <a:rPr b="1" lang="en-GB" sz="2500">
                <a:latin typeface="Times New Roman"/>
                <a:ea typeface="Times New Roman"/>
                <a:cs typeface="Times New Roman"/>
                <a:sym typeface="Times New Roman"/>
              </a:rPr>
              <a:t>Water Flow Sensor :</a:t>
            </a:r>
            <a:r>
              <a:rPr lang="en-GB" sz="2500">
                <a:latin typeface="Times New Roman"/>
                <a:ea typeface="Times New Roman"/>
                <a:cs typeface="Times New Roman"/>
                <a:sym typeface="Times New Roman"/>
              </a:rPr>
              <a:t> Monitors the rate of water flow through the pipeline to prevent overuse or leakage.</a:t>
            </a:r>
            <a:endParaRPr/>
          </a:p>
          <a:p>
            <a:pPr indent="-228600" lvl="0" marL="228600" rtl="0" algn="l">
              <a:lnSpc>
                <a:spcPct val="90000"/>
              </a:lnSpc>
              <a:spcBef>
                <a:spcPts val="1000"/>
              </a:spcBef>
              <a:spcAft>
                <a:spcPts val="0"/>
              </a:spcAft>
              <a:buClr>
                <a:schemeClr val="dk1"/>
              </a:buClr>
              <a:buSzPct val="100000"/>
              <a:buChar char="•"/>
            </a:pPr>
            <a:r>
              <a:rPr b="1" lang="en-GB" sz="2500">
                <a:latin typeface="Times New Roman"/>
                <a:ea typeface="Times New Roman"/>
                <a:cs typeface="Times New Roman"/>
                <a:sym typeface="Times New Roman"/>
              </a:rPr>
              <a:t>Rain Sensor :</a:t>
            </a:r>
            <a:r>
              <a:rPr lang="en-GB" sz="2500">
                <a:latin typeface="Times New Roman"/>
                <a:ea typeface="Times New Roman"/>
                <a:cs typeface="Times New Roman"/>
                <a:sym typeface="Times New Roman"/>
              </a:rPr>
              <a:t> Detects rainfall to automatically stop irrigation during wet conditions.</a:t>
            </a:r>
            <a:endParaRPr/>
          </a:p>
          <a:p>
            <a:pPr indent="-88265" lvl="0" marL="228600" rtl="0" algn="l">
              <a:lnSpc>
                <a:spcPct val="90000"/>
              </a:lnSpc>
              <a:spcBef>
                <a:spcPts val="1000"/>
              </a:spcBef>
              <a:spcAft>
                <a:spcPts val="0"/>
              </a:spcAft>
              <a:buClr>
                <a:schemeClr val="dk1"/>
              </a:buClr>
              <a:buSzPct val="100000"/>
              <a:buNone/>
            </a:pPr>
            <a:r>
              <a:t/>
            </a:r>
            <a:endParaRPr sz="2600">
              <a:latin typeface="Times New Roman"/>
              <a:ea typeface="Times New Roman"/>
              <a:cs typeface="Times New Roman"/>
              <a:sym typeface="Times New Roman"/>
            </a:endParaRPr>
          </a:p>
        </p:txBody>
      </p:sp>
      <p:sp>
        <p:nvSpPr>
          <p:cNvPr id="306" name="Google Shape;306;p6"/>
          <p:cNvSpPr txBox="1"/>
          <p:nvPr/>
        </p:nvSpPr>
        <p:spPr>
          <a:xfrm>
            <a:off x="423553" y="6173538"/>
            <a:ext cx="21069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Soil Moisture Sensor</a:t>
            </a:r>
            <a:endParaRPr/>
          </a:p>
        </p:txBody>
      </p:sp>
      <p:sp>
        <p:nvSpPr>
          <p:cNvPr id="307" name="Google Shape;307;p6"/>
          <p:cNvSpPr txBox="1"/>
          <p:nvPr/>
        </p:nvSpPr>
        <p:spPr>
          <a:xfrm>
            <a:off x="3285604" y="6149435"/>
            <a:ext cx="175882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DHT22 Sensor</a:t>
            </a:r>
            <a:endParaRPr/>
          </a:p>
        </p:txBody>
      </p:sp>
      <p:pic>
        <p:nvPicPr>
          <p:cNvPr descr="Buy Soil Moisture Sensor Kit Online at Robu.in" id="308" name="Google Shape;308;p6"/>
          <p:cNvPicPr preferRelativeResize="0"/>
          <p:nvPr/>
        </p:nvPicPr>
        <p:blipFill rotWithShape="1">
          <a:blip r:embed="rId3">
            <a:alphaModFix/>
          </a:blip>
          <a:srcRect b="0" l="0" r="0" t="0"/>
          <a:stretch/>
        </p:blipFill>
        <p:spPr>
          <a:xfrm>
            <a:off x="423553" y="3848101"/>
            <a:ext cx="2280617" cy="2280617"/>
          </a:xfrm>
          <a:prstGeom prst="rect">
            <a:avLst/>
          </a:prstGeom>
          <a:noFill/>
          <a:ln>
            <a:noFill/>
          </a:ln>
        </p:spPr>
      </p:pic>
      <p:pic>
        <p:nvPicPr>
          <p:cNvPr descr="DHT22 Humidity &amp; Temperature Sensor with PCB" id="309" name="Google Shape;309;p6"/>
          <p:cNvPicPr preferRelativeResize="0"/>
          <p:nvPr/>
        </p:nvPicPr>
        <p:blipFill rotWithShape="1">
          <a:blip r:embed="rId4">
            <a:alphaModFix/>
          </a:blip>
          <a:srcRect b="0" l="0" r="0" t="0"/>
          <a:stretch/>
        </p:blipFill>
        <p:spPr>
          <a:xfrm>
            <a:off x="2695226" y="3667718"/>
            <a:ext cx="2576512" cy="2576512"/>
          </a:xfrm>
          <a:prstGeom prst="rect">
            <a:avLst/>
          </a:prstGeom>
          <a:noFill/>
          <a:ln>
            <a:noFill/>
          </a:ln>
        </p:spPr>
      </p:pic>
      <p:pic>
        <p:nvPicPr>
          <p:cNvPr descr="Buy YF-S201 Water Flow Sensor Online in India | Robocraze" id="310" name="Google Shape;310;p6"/>
          <p:cNvPicPr preferRelativeResize="0"/>
          <p:nvPr/>
        </p:nvPicPr>
        <p:blipFill rotWithShape="1">
          <a:blip r:embed="rId5">
            <a:alphaModFix/>
          </a:blip>
          <a:srcRect b="0" l="0" r="0" t="0"/>
          <a:stretch/>
        </p:blipFill>
        <p:spPr>
          <a:xfrm>
            <a:off x="5271738" y="3868246"/>
            <a:ext cx="2996299" cy="2301334"/>
          </a:xfrm>
          <a:prstGeom prst="rect">
            <a:avLst/>
          </a:prstGeom>
          <a:noFill/>
          <a:ln>
            <a:noFill/>
          </a:ln>
        </p:spPr>
      </p:pic>
      <p:sp>
        <p:nvSpPr>
          <p:cNvPr id="311" name="Google Shape;311;p6"/>
          <p:cNvSpPr txBox="1"/>
          <p:nvPr/>
        </p:nvSpPr>
        <p:spPr>
          <a:xfrm>
            <a:off x="5799508" y="6169580"/>
            <a:ext cx="21069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Water Flow Sensor</a:t>
            </a:r>
            <a:endParaRPr/>
          </a:p>
        </p:txBody>
      </p:sp>
      <p:sp>
        <p:nvSpPr>
          <p:cNvPr id="312" name="Google Shape;312;p6"/>
          <p:cNvSpPr txBox="1"/>
          <p:nvPr/>
        </p:nvSpPr>
        <p:spPr>
          <a:xfrm>
            <a:off x="9489859" y="6169580"/>
            <a:ext cx="175882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Rain Sensor</a:t>
            </a:r>
            <a:endParaRPr/>
          </a:p>
        </p:txBody>
      </p:sp>
      <p:pic>
        <p:nvPicPr>
          <p:cNvPr descr="Buy Raindrops Detection Sensor Module Online at Robu.in" id="313" name="Google Shape;313;p6"/>
          <p:cNvPicPr preferRelativeResize="0"/>
          <p:nvPr/>
        </p:nvPicPr>
        <p:blipFill rotWithShape="1">
          <a:blip r:embed="rId6">
            <a:alphaModFix/>
          </a:blip>
          <a:srcRect b="0" l="0" r="0" t="0"/>
          <a:stretch/>
        </p:blipFill>
        <p:spPr>
          <a:xfrm>
            <a:off x="8867430" y="3848101"/>
            <a:ext cx="2381250" cy="23013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7"/>
          <p:cNvSpPr txBox="1"/>
          <p:nvPr>
            <p:ph type="title"/>
          </p:nvPr>
        </p:nvSpPr>
        <p:spPr>
          <a:xfrm>
            <a:off x="838200" y="136525"/>
            <a:ext cx="10515600" cy="9924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Hardware requirement</a:t>
            </a:r>
            <a:endParaRPr b="1">
              <a:latin typeface="Times New Roman"/>
              <a:ea typeface="Times New Roman"/>
              <a:cs typeface="Times New Roman"/>
              <a:sym typeface="Times New Roman"/>
            </a:endParaRPr>
          </a:p>
        </p:txBody>
      </p:sp>
      <p:sp>
        <p:nvSpPr>
          <p:cNvPr id="319" name="Google Shape;319;p7"/>
          <p:cNvSpPr txBox="1"/>
          <p:nvPr>
            <p:ph idx="1" type="body"/>
          </p:nvPr>
        </p:nvSpPr>
        <p:spPr>
          <a:xfrm>
            <a:off x="680356" y="1431573"/>
            <a:ext cx="11019419" cy="2073737"/>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b="1" lang="en-GB" sz="2400">
                <a:latin typeface="Times New Roman"/>
                <a:ea typeface="Times New Roman"/>
                <a:cs typeface="Times New Roman"/>
                <a:sym typeface="Times New Roman"/>
              </a:rPr>
              <a:t>ESP32 Microcontroller:</a:t>
            </a:r>
            <a:r>
              <a:rPr lang="en-GB" sz="2400">
                <a:latin typeface="Times New Roman"/>
                <a:ea typeface="Times New Roman"/>
                <a:cs typeface="Times New Roman"/>
                <a:sym typeface="Times New Roman"/>
              </a:rPr>
              <a:t> Serves as the central control unit, handling sensor input, relay output, and IoT communication.</a:t>
            </a:r>
            <a:endParaRPr/>
          </a:p>
          <a:p>
            <a:pPr indent="-228600" lvl="0" marL="228600" rtl="0" algn="l">
              <a:lnSpc>
                <a:spcPct val="90000"/>
              </a:lnSpc>
              <a:spcBef>
                <a:spcPts val="1000"/>
              </a:spcBef>
              <a:spcAft>
                <a:spcPts val="0"/>
              </a:spcAft>
              <a:buClr>
                <a:schemeClr val="dk1"/>
              </a:buClr>
              <a:buSzPts val="2400"/>
              <a:buChar char="•"/>
            </a:pPr>
            <a:r>
              <a:rPr b="1" lang="en-GB" sz="2400">
                <a:latin typeface="Times New Roman"/>
                <a:ea typeface="Times New Roman"/>
                <a:cs typeface="Times New Roman"/>
                <a:sym typeface="Times New Roman"/>
              </a:rPr>
              <a:t>Relay Module (5V):</a:t>
            </a:r>
            <a:r>
              <a:rPr lang="en-GB" sz="2400">
                <a:latin typeface="Times New Roman"/>
                <a:ea typeface="Times New Roman"/>
                <a:cs typeface="Times New Roman"/>
                <a:sym typeface="Times New Roman"/>
              </a:rPr>
              <a:t> Acts as a switch to control the water pump based on signals from the ESP32.</a:t>
            </a:r>
            <a:endParaRPr/>
          </a:p>
          <a:p>
            <a:pPr indent="-228600" lvl="0" marL="228600" rtl="0" algn="l">
              <a:lnSpc>
                <a:spcPct val="90000"/>
              </a:lnSpc>
              <a:spcBef>
                <a:spcPts val="1000"/>
              </a:spcBef>
              <a:spcAft>
                <a:spcPts val="0"/>
              </a:spcAft>
              <a:buClr>
                <a:schemeClr val="dk1"/>
              </a:buClr>
              <a:buSzPts val="2400"/>
              <a:buChar char="•"/>
            </a:pPr>
            <a:r>
              <a:rPr b="1" lang="en-GB" sz="2400">
                <a:latin typeface="Times New Roman"/>
                <a:ea typeface="Times New Roman"/>
                <a:cs typeface="Times New Roman"/>
                <a:sym typeface="Times New Roman"/>
              </a:rPr>
              <a:t>Water Pump / Motor Valve:</a:t>
            </a:r>
            <a:r>
              <a:rPr lang="en-GB" sz="2400">
                <a:latin typeface="Times New Roman"/>
                <a:ea typeface="Times New Roman"/>
                <a:cs typeface="Times New Roman"/>
                <a:sym typeface="Times New Roman"/>
              </a:rPr>
              <a:t> Pumps water to the plants when activated by the relay in auto or manual mode.</a:t>
            </a:r>
            <a:endParaRPr b="0" i="0" sz="2400">
              <a:latin typeface="Times New Roman"/>
              <a:ea typeface="Times New Roman"/>
              <a:cs typeface="Times New Roman"/>
              <a:sym typeface="Times New Roman"/>
            </a:endParaRPr>
          </a:p>
          <a:p>
            <a:pPr indent="-76200" lvl="0" marL="22860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320" name="Google Shape;32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21" name="Google Shape;321;p7"/>
          <p:cNvSpPr txBox="1"/>
          <p:nvPr/>
        </p:nvSpPr>
        <p:spPr>
          <a:xfrm>
            <a:off x="8666922" y="5636288"/>
            <a:ext cx="284472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Water Pump / Motor Valve</a:t>
            </a:r>
            <a:endParaRPr/>
          </a:p>
        </p:txBody>
      </p:sp>
      <p:sp>
        <p:nvSpPr>
          <p:cNvPr id="322" name="Google Shape;322;p7"/>
          <p:cNvSpPr txBox="1"/>
          <p:nvPr/>
        </p:nvSpPr>
        <p:spPr>
          <a:xfrm>
            <a:off x="1064101" y="5636288"/>
            <a:ext cx="25799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ESP 32 Microcontroller</a:t>
            </a:r>
            <a:endParaRPr sz="1800">
              <a:solidFill>
                <a:schemeClr val="dk1"/>
              </a:solidFill>
              <a:latin typeface="Calibri"/>
              <a:ea typeface="Calibri"/>
              <a:cs typeface="Calibri"/>
              <a:sym typeface="Calibri"/>
            </a:endParaRPr>
          </a:p>
        </p:txBody>
      </p:sp>
      <p:sp>
        <p:nvSpPr>
          <p:cNvPr id="323" name="Google Shape;323;p7"/>
          <p:cNvSpPr txBox="1"/>
          <p:nvPr/>
        </p:nvSpPr>
        <p:spPr>
          <a:xfrm>
            <a:off x="4992905" y="5636288"/>
            <a:ext cx="21600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Relay Module (5V)</a:t>
            </a:r>
            <a:endParaRPr/>
          </a:p>
        </p:txBody>
      </p:sp>
      <p:pic>
        <p:nvPicPr>
          <p:cNvPr descr="ESP-WROOM-32 ESP32 ESP-32S Development Board 2.4GHz Dual-Mode WiFi +  Bluetooth Dual Cores Microcontroller Processor Integrated with Antenna RF  AMP Filter AP STA Compatible with Arduino IDE (3PCS) : Amazon.in:  Industrial &amp; Scientific" id="324" name="Google Shape;324;p7"/>
          <p:cNvPicPr preferRelativeResize="0"/>
          <p:nvPr/>
        </p:nvPicPr>
        <p:blipFill rotWithShape="1">
          <a:blip r:embed="rId3">
            <a:alphaModFix/>
          </a:blip>
          <a:srcRect b="0" l="0" r="0" t="0"/>
          <a:stretch/>
        </p:blipFill>
        <p:spPr>
          <a:xfrm>
            <a:off x="1249489" y="3687399"/>
            <a:ext cx="1948889" cy="1948889"/>
          </a:xfrm>
          <a:prstGeom prst="rect">
            <a:avLst/>
          </a:prstGeom>
          <a:noFill/>
          <a:ln>
            <a:noFill/>
          </a:ln>
        </p:spPr>
      </p:pic>
      <p:pic>
        <p:nvPicPr>
          <p:cNvPr descr="ERH India (1 Pc) 5v DC Relay Module for Arduino ARM AVR with Indicator  Light LED One Channel Relay Module Works with Arduino Boards : Amazon.in:  Home ..." id="325" name="Google Shape;325;p7"/>
          <p:cNvPicPr preferRelativeResize="0"/>
          <p:nvPr/>
        </p:nvPicPr>
        <p:blipFill rotWithShape="1">
          <a:blip r:embed="rId4">
            <a:alphaModFix/>
          </a:blip>
          <a:srcRect b="0" l="0" r="0" t="0"/>
          <a:stretch/>
        </p:blipFill>
        <p:spPr>
          <a:xfrm>
            <a:off x="4992905" y="3660903"/>
            <a:ext cx="2069587" cy="1765524"/>
          </a:xfrm>
          <a:prstGeom prst="rect">
            <a:avLst/>
          </a:prstGeom>
          <a:noFill/>
          <a:ln>
            <a:noFill/>
          </a:ln>
        </p:spPr>
      </p:pic>
      <p:pic>
        <p:nvPicPr>
          <p:cNvPr descr="Water Pump, DC 24V High Lift Low Noise High Submersible Water Pump for  Fresh Water for Pond : Amazon.in: Garden &amp; Outdoors" id="326" name="Google Shape;326;p7"/>
          <p:cNvPicPr preferRelativeResize="0"/>
          <p:nvPr/>
        </p:nvPicPr>
        <p:blipFill rotWithShape="1">
          <a:blip r:embed="rId5">
            <a:alphaModFix/>
          </a:blip>
          <a:srcRect b="0" l="0" r="0" t="0"/>
          <a:stretch/>
        </p:blipFill>
        <p:spPr>
          <a:xfrm>
            <a:off x="8857019" y="3660903"/>
            <a:ext cx="2362288" cy="18591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8"/>
          <p:cNvSpPr txBox="1"/>
          <p:nvPr>
            <p:ph type="title"/>
          </p:nvPr>
        </p:nvSpPr>
        <p:spPr>
          <a:xfrm>
            <a:off x="838200" y="136525"/>
            <a:ext cx="10515600" cy="9924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Software requirement</a:t>
            </a:r>
            <a:endParaRPr b="1">
              <a:latin typeface="Times New Roman"/>
              <a:ea typeface="Times New Roman"/>
              <a:cs typeface="Times New Roman"/>
              <a:sym typeface="Times New Roman"/>
            </a:endParaRPr>
          </a:p>
        </p:txBody>
      </p:sp>
      <p:sp>
        <p:nvSpPr>
          <p:cNvPr id="332" name="Google Shape;332;p8"/>
          <p:cNvSpPr txBox="1"/>
          <p:nvPr>
            <p:ph idx="1" type="body"/>
          </p:nvPr>
        </p:nvSpPr>
        <p:spPr>
          <a:xfrm>
            <a:off x="494522" y="1496292"/>
            <a:ext cx="11048294" cy="3230087"/>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Char char="•"/>
            </a:pPr>
            <a:r>
              <a:rPr b="1" lang="en-GB" sz="3200">
                <a:latin typeface="Times New Roman"/>
                <a:ea typeface="Times New Roman"/>
                <a:cs typeface="Times New Roman"/>
                <a:sym typeface="Times New Roman"/>
              </a:rPr>
              <a:t>Blynk IoT Platform:</a:t>
            </a:r>
            <a:r>
              <a:rPr lang="en-GB" sz="3200">
                <a:latin typeface="Times New Roman"/>
                <a:ea typeface="Times New Roman"/>
                <a:cs typeface="Times New Roman"/>
                <a:sym typeface="Times New Roman"/>
              </a:rPr>
              <a:t> Provides the mobile and web interface for real-time monitoring, control, and data visualization.</a:t>
            </a:r>
            <a:endParaRPr/>
          </a:p>
          <a:p>
            <a:pPr indent="-228600" lvl="0" marL="228600" rtl="0" algn="just">
              <a:lnSpc>
                <a:spcPct val="90000"/>
              </a:lnSpc>
              <a:spcBef>
                <a:spcPts val="1000"/>
              </a:spcBef>
              <a:spcAft>
                <a:spcPts val="0"/>
              </a:spcAft>
              <a:buClr>
                <a:schemeClr val="dk1"/>
              </a:buClr>
              <a:buSzPct val="100000"/>
              <a:buChar char="•"/>
            </a:pPr>
            <a:r>
              <a:rPr b="1" lang="en-GB" sz="3200">
                <a:latin typeface="Times New Roman"/>
                <a:ea typeface="Times New Roman"/>
                <a:cs typeface="Times New Roman"/>
                <a:sym typeface="Times New Roman"/>
              </a:rPr>
              <a:t>Arduino IDE:</a:t>
            </a:r>
            <a:r>
              <a:rPr lang="en-GB" sz="3200">
                <a:latin typeface="Times New Roman"/>
                <a:ea typeface="Times New Roman"/>
                <a:cs typeface="Times New Roman"/>
                <a:sym typeface="Times New Roman"/>
              </a:rPr>
              <a:t> Used to write, compile, and upload the program code to the ESP32 microcontroller.</a:t>
            </a:r>
            <a:endParaRPr/>
          </a:p>
          <a:p>
            <a:pPr indent="-228600" lvl="0" marL="228600" rtl="0" algn="just">
              <a:lnSpc>
                <a:spcPct val="90000"/>
              </a:lnSpc>
              <a:spcBef>
                <a:spcPts val="1000"/>
              </a:spcBef>
              <a:spcAft>
                <a:spcPts val="0"/>
              </a:spcAft>
              <a:buClr>
                <a:schemeClr val="dk1"/>
              </a:buClr>
              <a:buSzPct val="100000"/>
              <a:buChar char="•"/>
            </a:pPr>
            <a:r>
              <a:rPr b="1" lang="en-GB" sz="3200">
                <a:latin typeface="Times New Roman"/>
                <a:ea typeface="Times New Roman"/>
                <a:cs typeface="Times New Roman"/>
                <a:sym typeface="Times New Roman"/>
              </a:rPr>
              <a:t>Wi-Fi Connectivity:</a:t>
            </a:r>
            <a:r>
              <a:rPr lang="en-GB" sz="3200">
                <a:latin typeface="Times New Roman"/>
                <a:ea typeface="Times New Roman"/>
                <a:cs typeface="Times New Roman"/>
                <a:sym typeface="Times New Roman"/>
              </a:rPr>
              <a:t> Allows the ESP32 to connect to the internet for remote monitoring and operation.</a:t>
            </a:r>
            <a:endParaRPr/>
          </a:p>
          <a:p>
            <a:pPr indent="-228600" lvl="0" marL="228600" rtl="0" algn="just">
              <a:lnSpc>
                <a:spcPct val="90000"/>
              </a:lnSpc>
              <a:spcBef>
                <a:spcPts val="1000"/>
              </a:spcBef>
              <a:spcAft>
                <a:spcPts val="0"/>
              </a:spcAft>
              <a:buClr>
                <a:schemeClr val="dk1"/>
              </a:buClr>
              <a:buSzPct val="100000"/>
              <a:buChar char="•"/>
            </a:pPr>
            <a:r>
              <a:rPr b="1" lang="en-GB" sz="3200">
                <a:latin typeface="Times New Roman"/>
                <a:ea typeface="Times New Roman"/>
                <a:cs typeface="Times New Roman"/>
                <a:sym typeface="Times New Roman"/>
              </a:rPr>
              <a:t>Cloud Data Storage / Blynk Dashboard:</a:t>
            </a:r>
            <a:r>
              <a:rPr lang="en-GB" sz="3200">
                <a:latin typeface="Times New Roman"/>
                <a:ea typeface="Times New Roman"/>
                <a:cs typeface="Times New Roman"/>
                <a:sym typeface="Times New Roman"/>
              </a:rPr>
              <a:t> For logging sensor data and analysing irrigation trends.</a:t>
            </a:r>
            <a:endParaRPr i="0" sz="32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
        <p:nvSpPr>
          <p:cNvPr id="333" name="Google Shape;33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9"/>
          <p:cNvSpPr txBox="1"/>
          <p:nvPr>
            <p:ph type="title"/>
          </p:nvPr>
        </p:nvSpPr>
        <p:spPr>
          <a:xfrm>
            <a:off x="838200" y="151321"/>
            <a:ext cx="10515600" cy="9825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Methodology to be used</a:t>
            </a:r>
            <a:endParaRPr b="1">
              <a:latin typeface="Times New Roman"/>
              <a:ea typeface="Times New Roman"/>
              <a:cs typeface="Times New Roman"/>
              <a:sym typeface="Times New Roman"/>
            </a:endParaRPr>
          </a:p>
        </p:txBody>
      </p:sp>
      <p:sp>
        <p:nvSpPr>
          <p:cNvPr id="339" name="Google Shape;33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40" name="Google Shape;340;p9"/>
          <p:cNvSpPr/>
          <p:nvPr/>
        </p:nvSpPr>
        <p:spPr>
          <a:xfrm>
            <a:off x="2093976" y="5202936"/>
            <a:ext cx="3182112" cy="52120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9"/>
          <p:cNvSpPr txBox="1"/>
          <p:nvPr>
            <p:ph idx="1" type="body"/>
          </p:nvPr>
        </p:nvSpPr>
        <p:spPr>
          <a:xfrm>
            <a:off x="457200" y="1721413"/>
            <a:ext cx="10896600" cy="404738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GB">
                <a:latin typeface="Times New Roman"/>
                <a:ea typeface="Times New Roman"/>
                <a:cs typeface="Times New Roman"/>
                <a:sym typeface="Times New Roman"/>
              </a:rPr>
              <a:t>System Design and Planning:</a:t>
            </a:r>
            <a:r>
              <a:rPr lang="en-GB">
                <a:latin typeface="Times New Roman"/>
                <a:ea typeface="Times New Roman"/>
                <a:cs typeface="Times New Roman"/>
                <a:sym typeface="Times New Roman"/>
              </a:rPr>
              <a:t> Designing the architecture integrating ESP32, sensors, relay, and IoT platform.</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Hardware Integration:</a:t>
            </a:r>
            <a:r>
              <a:rPr lang="en-GB">
                <a:latin typeface="Times New Roman"/>
                <a:ea typeface="Times New Roman"/>
                <a:cs typeface="Times New Roman"/>
                <a:sym typeface="Times New Roman"/>
              </a:rPr>
              <a:t> Connecting the soil moisture sensor, relay, and pump to the ESP32 with proper wiring.</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Software Development:</a:t>
            </a:r>
            <a:r>
              <a:rPr lang="en-GB">
                <a:latin typeface="Times New Roman"/>
                <a:ea typeface="Times New Roman"/>
                <a:cs typeface="Times New Roman"/>
                <a:sym typeface="Times New Roman"/>
              </a:rPr>
              <a:t> Programming the ESP32 in Arduino IDE for dual-mode operation and safety features.</a:t>
            </a:r>
            <a:endParaRPr/>
          </a:p>
          <a:p>
            <a:pPr indent="-228600" lvl="0" marL="228600" rtl="0" algn="just">
              <a:lnSpc>
                <a:spcPct val="9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a:t>
            </a:r>
            <a:r>
              <a:rPr b="1" lang="en-GB">
                <a:latin typeface="Times New Roman"/>
                <a:ea typeface="Times New Roman"/>
                <a:cs typeface="Times New Roman"/>
                <a:sym typeface="Times New Roman"/>
              </a:rPr>
              <a:t>IoT Configuration:</a:t>
            </a:r>
            <a:r>
              <a:rPr lang="en-GB">
                <a:latin typeface="Times New Roman"/>
                <a:ea typeface="Times New Roman"/>
                <a:cs typeface="Times New Roman"/>
                <a:sym typeface="Times New Roman"/>
              </a:rPr>
              <a:t> Setting up the Blynk IoT platform with virtual pins for monitoring and remote control.</a:t>
            </a:r>
            <a:endParaRPr>
              <a:latin typeface="Times New Roman"/>
              <a:ea typeface="Times New Roman"/>
              <a:cs typeface="Times New Roman"/>
              <a:sym typeface="Times New Roman"/>
            </a:endParaRPr>
          </a:p>
          <a:p>
            <a:pPr indent="-63500" lvl="0" marL="228600" rtl="0" algn="just">
              <a:lnSpc>
                <a:spcPct val="90000"/>
              </a:lnSpc>
              <a:spcBef>
                <a:spcPts val="1000"/>
              </a:spcBef>
              <a:spcAft>
                <a:spcPts val="0"/>
              </a:spcAft>
              <a:buClr>
                <a:schemeClr val="dk1"/>
              </a:buClr>
              <a:buSzPts val="2600"/>
              <a:buNone/>
            </a:pPr>
            <a:r>
              <a:t/>
            </a:r>
            <a:endParaRPr sz="26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0"/>
          <p:cNvSpPr txBox="1"/>
          <p:nvPr>
            <p:ph type="title"/>
          </p:nvPr>
        </p:nvSpPr>
        <p:spPr>
          <a:xfrm>
            <a:off x="838200" y="151321"/>
            <a:ext cx="10515600" cy="9825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Methodology to be used</a:t>
            </a:r>
            <a:endParaRPr b="1">
              <a:latin typeface="Times New Roman"/>
              <a:ea typeface="Times New Roman"/>
              <a:cs typeface="Times New Roman"/>
              <a:sym typeface="Times New Roman"/>
            </a:endParaRPr>
          </a:p>
        </p:txBody>
      </p:sp>
      <p:sp>
        <p:nvSpPr>
          <p:cNvPr id="347" name="Google Shape;34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348" name="Google Shape;348;p10"/>
          <p:cNvSpPr/>
          <p:nvPr/>
        </p:nvSpPr>
        <p:spPr>
          <a:xfrm>
            <a:off x="2093976" y="5202936"/>
            <a:ext cx="3182112" cy="52120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p10"/>
          <p:cNvSpPr txBox="1"/>
          <p:nvPr>
            <p:ph idx="1" type="body"/>
          </p:nvPr>
        </p:nvSpPr>
        <p:spPr>
          <a:xfrm>
            <a:off x="647700" y="1520237"/>
            <a:ext cx="10896600" cy="3943303"/>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GB">
                <a:latin typeface="Times New Roman"/>
                <a:ea typeface="Times New Roman"/>
                <a:cs typeface="Times New Roman"/>
                <a:sym typeface="Times New Roman"/>
              </a:rPr>
              <a:t>Testing and Calibration:</a:t>
            </a:r>
            <a:r>
              <a:rPr lang="en-GB">
                <a:latin typeface="Times New Roman"/>
                <a:ea typeface="Times New Roman"/>
                <a:cs typeface="Times New Roman"/>
                <a:sym typeface="Times New Roman"/>
              </a:rPr>
              <a:t> Verifying sensor accuracy and adjusting threshold values for reliable irrigation.</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Performance Evaluation:</a:t>
            </a:r>
            <a:r>
              <a:rPr lang="en-GB">
                <a:latin typeface="Times New Roman"/>
                <a:ea typeface="Times New Roman"/>
                <a:cs typeface="Times New Roman"/>
                <a:sym typeface="Times New Roman"/>
              </a:rPr>
              <a:t> Assessing system efficiency, response time, and reliability under different conditions.</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Implementation and Monitoring:</a:t>
            </a:r>
            <a:r>
              <a:rPr lang="en-GB">
                <a:latin typeface="Times New Roman"/>
                <a:ea typeface="Times New Roman"/>
                <a:cs typeface="Times New Roman"/>
                <a:sym typeface="Times New Roman"/>
              </a:rPr>
              <a:t> Deploying the system in the field and observing real-time performance via the app.</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AI-Based Decision Making:</a:t>
            </a:r>
            <a:r>
              <a:rPr lang="en-GB">
                <a:latin typeface="Times New Roman"/>
                <a:ea typeface="Times New Roman"/>
                <a:cs typeface="Times New Roman"/>
                <a:sym typeface="Times New Roman"/>
              </a:rPr>
              <a:t> Implementing machine learning algorithms to predict irrigation needs based on soil and weather data.</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1"/>
          <p:cNvSpPr txBox="1"/>
          <p:nvPr>
            <p:ph type="title"/>
          </p:nvPr>
        </p:nvSpPr>
        <p:spPr>
          <a:xfrm>
            <a:off x="838200" y="146112"/>
            <a:ext cx="10515600" cy="96043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Literature Review </a:t>
            </a:r>
            <a:endParaRPr/>
          </a:p>
        </p:txBody>
      </p:sp>
      <p:sp>
        <p:nvSpPr>
          <p:cNvPr id="355" name="Google Shape;355;p11"/>
          <p:cNvSpPr txBox="1"/>
          <p:nvPr>
            <p:ph idx="1" type="body"/>
          </p:nvPr>
        </p:nvSpPr>
        <p:spPr>
          <a:xfrm>
            <a:off x="429208" y="1240971"/>
            <a:ext cx="10924592" cy="5115379"/>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b="1" lang="en-GB">
                <a:latin typeface="Times New Roman"/>
                <a:ea typeface="Times New Roman"/>
                <a:cs typeface="Times New Roman"/>
                <a:sym typeface="Times New Roman"/>
              </a:rPr>
              <a:t>Evolution of Smart Irrigation Systems:​</a:t>
            </a:r>
            <a:endParaRPr/>
          </a:p>
          <a:p>
            <a:pPr indent="-228600" lvl="0" marL="228600" rtl="0" algn="just">
              <a:lnSpc>
                <a:spcPct val="9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 </a:t>
            </a:r>
            <a:r>
              <a:rPr b="1" lang="en-GB">
                <a:latin typeface="Times New Roman"/>
                <a:ea typeface="Times New Roman"/>
                <a:cs typeface="Times New Roman"/>
                <a:sym typeface="Times New Roman"/>
              </a:rPr>
              <a:t>Traditional Irrigation Methods:</a:t>
            </a:r>
            <a:r>
              <a:rPr lang="en-GB">
                <a:latin typeface="Times New Roman"/>
                <a:ea typeface="Times New Roman"/>
                <a:cs typeface="Times New Roman"/>
                <a:sym typeface="Times New Roman"/>
              </a:rPr>
              <a:t> Early irrigation systems relied entirely on manual watering using canals or pumps, leading to water wastage, uneven distribution, and low efficiency.    </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Timer-Based Irrigation Systems:</a:t>
            </a:r>
            <a:r>
              <a:rPr lang="en-GB">
                <a:latin typeface="Times New Roman"/>
                <a:ea typeface="Times New Roman"/>
                <a:cs typeface="Times New Roman"/>
                <a:sym typeface="Times New Roman"/>
              </a:rPr>
              <a:t> The next evolution introduced electric or mechanical timers to control pump operation, but these systems lacked soil feedback and adaptability to weather conditions.</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Sensor-Based Automation:</a:t>
            </a:r>
            <a:r>
              <a:rPr lang="en-GB">
                <a:latin typeface="Times New Roman"/>
                <a:ea typeface="Times New Roman"/>
                <a:cs typeface="Times New Roman"/>
                <a:sym typeface="Times New Roman"/>
              </a:rPr>
              <a:t> Later systems integrated soil moisture sensors to automate watering; however, most lacked IoT connectivity and real-time monitoring capabilities.</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Microcontroller-Based Control:</a:t>
            </a:r>
            <a:r>
              <a:rPr lang="en-GB">
                <a:latin typeface="Times New Roman"/>
                <a:ea typeface="Times New Roman"/>
                <a:cs typeface="Times New Roman"/>
                <a:sym typeface="Times New Roman"/>
              </a:rPr>
              <a:t> With the rise of microcontrollers like Arduino and ESP8266, systems became programmable, allowing automation based on sensor data, but remote access was still limited.</a:t>
            </a:r>
            <a:endParaRPr>
              <a:latin typeface="Times New Roman"/>
              <a:ea typeface="Times New Roman"/>
              <a:cs typeface="Times New Roman"/>
              <a:sym typeface="Times New Roman"/>
            </a:endParaRPr>
          </a:p>
        </p:txBody>
      </p:sp>
      <p:sp>
        <p:nvSpPr>
          <p:cNvPr id="356" name="Google Shape;35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2"/>
          <p:cNvSpPr txBox="1"/>
          <p:nvPr>
            <p:ph type="title"/>
          </p:nvPr>
        </p:nvSpPr>
        <p:spPr>
          <a:xfrm>
            <a:off x="838200" y="136526"/>
            <a:ext cx="10515600" cy="100181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Literature</a:t>
            </a:r>
            <a:r>
              <a:rPr lang="en-GB">
                <a:latin typeface="Times New Roman"/>
                <a:ea typeface="Times New Roman"/>
                <a:cs typeface="Times New Roman"/>
                <a:sym typeface="Times New Roman"/>
              </a:rPr>
              <a:t> </a:t>
            </a:r>
            <a:r>
              <a:rPr b="1" lang="en-GB">
                <a:latin typeface="Times New Roman"/>
                <a:ea typeface="Times New Roman"/>
                <a:cs typeface="Times New Roman"/>
                <a:sym typeface="Times New Roman"/>
              </a:rPr>
              <a:t>Review</a:t>
            </a:r>
            <a:r>
              <a:rPr lang="en-GB">
                <a:latin typeface="Times New Roman"/>
                <a:ea typeface="Times New Roman"/>
                <a:cs typeface="Times New Roman"/>
                <a:sym typeface="Times New Roman"/>
              </a:rPr>
              <a:t> </a:t>
            </a:r>
            <a:endParaRPr/>
          </a:p>
        </p:txBody>
      </p:sp>
      <p:sp>
        <p:nvSpPr>
          <p:cNvPr id="362" name="Google Shape;362;p12"/>
          <p:cNvSpPr txBox="1"/>
          <p:nvPr>
            <p:ph idx="1" type="body"/>
          </p:nvPr>
        </p:nvSpPr>
        <p:spPr>
          <a:xfrm>
            <a:off x="457201" y="1268962"/>
            <a:ext cx="5456712" cy="5180693"/>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b="1" lang="en-GB">
                <a:latin typeface="Times New Roman"/>
                <a:ea typeface="Times New Roman"/>
                <a:cs typeface="Times New Roman"/>
                <a:sym typeface="Times New Roman"/>
              </a:rPr>
              <a:t>IoT-Enabled Smart Irrigation:</a:t>
            </a:r>
            <a:r>
              <a:rPr lang="en-GB">
                <a:latin typeface="Times New Roman"/>
                <a:ea typeface="Times New Roman"/>
                <a:cs typeface="Times New Roman"/>
                <a:sym typeface="Times New Roman"/>
              </a:rPr>
              <a:t> Modern systems connected via IoT platforms (like Blynk and Thingspeak) enabled farmers to monitor and control irrigation remotely using smartphones.</a:t>
            </a:r>
            <a:endParaRPr/>
          </a:p>
          <a:p>
            <a:pPr indent="-228600" lvl="0" marL="228600" rtl="0" algn="just">
              <a:lnSpc>
                <a:spcPct val="90000"/>
              </a:lnSpc>
              <a:spcBef>
                <a:spcPts val="1000"/>
              </a:spcBef>
              <a:spcAft>
                <a:spcPts val="0"/>
              </a:spcAft>
              <a:buClr>
                <a:schemeClr val="dk1"/>
              </a:buClr>
              <a:buSzPts val="2800"/>
              <a:buChar char="•"/>
            </a:pPr>
            <a:r>
              <a:rPr b="1" lang="en-GB">
                <a:latin typeface="Times New Roman"/>
                <a:ea typeface="Times New Roman"/>
                <a:cs typeface="Times New Roman"/>
                <a:sym typeface="Times New Roman"/>
              </a:rPr>
              <a:t>AquaMind Evolution:</a:t>
            </a:r>
            <a:r>
              <a:rPr lang="en-GB">
                <a:latin typeface="Times New Roman"/>
                <a:ea typeface="Times New Roman"/>
                <a:cs typeface="Times New Roman"/>
                <a:sym typeface="Times New Roman"/>
              </a:rPr>
              <a:t> The proposed AquaMind System advances this evolution by combining dual-mode operation, adaptive feedback, and a safety override mechanism, ensuring both automation and user control with high reliability.</a:t>
            </a:r>
            <a:endParaRPr>
              <a:latin typeface="Times New Roman"/>
              <a:ea typeface="Times New Roman"/>
              <a:cs typeface="Times New Roman"/>
              <a:sym typeface="Times New Roman"/>
            </a:endParaRPr>
          </a:p>
        </p:txBody>
      </p:sp>
      <p:sp>
        <p:nvSpPr>
          <p:cNvPr id="363" name="Google Shape;36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64" name="Google Shape;364;p12"/>
          <p:cNvPicPr preferRelativeResize="0"/>
          <p:nvPr/>
        </p:nvPicPr>
        <p:blipFill rotWithShape="1">
          <a:blip r:embed="rId3">
            <a:alphaModFix/>
          </a:blip>
          <a:srcRect b="0" l="0" r="0" t="0"/>
          <a:stretch/>
        </p:blipFill>
        <p:spPr>
          <a:xfrm>
            <a:off x="6278089" y="1268962"/>
            <a:ext cx="5250873" cy="478868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3"/>
          <p:cNvSpPr txBox="1"/>
          <p:nvPr>
            <p:ph type="title"/>
          </p:nvPr>
        </p:nvSpPr>
        <p:spPr>
          <a:xfrm>
            <a:off x="838200" y="136526"/>
            <a:ext cx="10515600" cy="98314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Conclusion</a:t>
            </a:r>
            <a:endParaRPr/>
          </a:p>
        </p:txBody>
      </p:sp>
      <p:sp>
        <p:nvSpPr>
          <p:cNvPr id="370" name="Google Shape;370;p13"/>
          <p:cNvSpPr txBox="1"/>
          <p:nvPr>
            <p:ph idx="1" type="body"/>
          </p:nvPr>
        </p:nvSpPr>
        <p:spPr>
          <a:xfrm>
            <a:off x="657030" y="1429689"/>
            <a:ext cx="10877939" cy="4926661"/>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400"/>
              <a:buNone/>
            </a:pPr>
            <a:r>
              <a:rPr lang="en-GB" sz="2400">
                <a:latin typeface="Times New Roman"/>
                <a:ea typeface="Times New Roman"/>
                <a:cs typeface="Times New Roman"/>
                <a:sym typeface="Times New Roman"/>
              </a:rPr>
              <a:t>The </a:t>
            </a:r>
            <a:r>
              <a:rPr b="1" lang="en-GB" sz="2400">
                <a:latin typeface="Times New Roman"/>
                <a:ea typeface="Times New Roman"/>
                <a:cs typeface="Times New Roman"/>
                <a:sym typeface="Times New Roman"/>
              </a:rPr>
              <a:t>AquaMind</a:t>
            </a:r>
            <a:r>
              <a:rPr lang="en-GB" sz="2400">
                <a:latin typeface="Times New Roman"/>
                <a:ea typeface="Times New Roman"/>
                <a:cs typeface="Times New Roman"/>
                <a:sym typeface="Times New Roman"/>
              </a:rPr>
              <a:t> system successfully demonstrates how IoT, automation, and adaptive feedback can revolutionize modern irrigation practices. By combining dual-mode operation, real-time monitoring, and a safety override mechanism, the system ensures precise water management, energy efficiency, and reliable operation even under network failures. It intelligently adjusts irrigation based on soil moisture conditions, minimizing human intervention and resource wastage. The integration of the Blynk IoT platform enables seamless remote control and data visualization, empowering users to make informed decisions.</a:t>
            </a:r>
            <a:endParaRPr/>
          </a:p>
          <a:p>
            <a:pPr indent="0" lvl="0" marL="0" rtl="0" algn="just">
              <a:lnSpc>
                <a:spcPct val="90000"/>
              </a:lnSpc>
              <a:spcBef>
                <a:spcPts val="1000"/>
              </a:spcBef>
              <a:spcAft>
                <a:spcPts val="0"/>
              </a:spcAft>
              <a:buClr>
                <a:schemeClr val="dk1"/>
              </a:buClr>
              <a:buSzPts val="2400"/>
              <a:buNone/>
            </a:pPr>
            <a:r>
              <a:rPr lang="en-GB" sz="2400">
                <a:latin typeface="Times New Roman"/>
                <a:ea typeface="Times New Roman"/>
                <a:cs typeface="Times New Roman"/>
                <a:sym typeface="Times New Roman"/>
              </a:rPr>
              <a:t>Furthermore, the system’s scalable design makes it adaptable to various farm sizes, from small gardens to large agricultural fields. Its low-cost and eco-friendly implementation promotes sustainable agriculture and supports the global goal of efficient resource utilization. Overall, AquaMind provides a sustainable, efficient, and intelligent irrigation solution, paving the way for smarter, data-driven, and greener farming practices of the future.</a:t>
            </a:r>
            <a:endParaRPr/>
          </a:p>
        </p:txBody>
      </p:sp>
      <p:sp>
        <p:nvSpPr>
          <p:cNvPr id="371" name="Google Shape;37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4"/>
          <p:cNvSpPr txBox="1"/>
          <p:nvPr>
            <p:ph type="title"/>
          </p:nvPr>
        </p:nvSpPr>
        <p:spPr>
          <a:xfrm>
            <a:off x="838200" y="136526"/>
            <a:ext cx="10515600" cy="98314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Future Scope</a:t>
            </a:r>
            <a:endParaRPr/>
          </a:p>
        </p:txBody>
      </p:sp>
      <p:sp>
        <p:nvSpPr>
          <p:cNvPr id="377" name="Google Shape;377;p14"/>
          <p:cNvSpPr txBox="1"/>
          <p:nvPr>
            <p:ph idx="1" type="body"/>
          </p:nvPr>
        </p:nvSpPr>
        <p:spPr>
          <a:xfrm>
            <a:off x="438539" y="1212980"/>
            <a:ext cx="10915261" cy="5508494"/>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500"/>
              <a:buChar char="•"/>
            </a:pPr>
            <a:r>
              <a:rPr b="1" lang="en-GB" sz="2500">
                <a:latin typeface="Times New Roman"/>
                <a:ea typeface="Times New Roman"/>
                <a:cs typeface="Times New Roman"/>
                <a:sym typeface="Times New Roman"/>
              </a:rPr>
              <a:t>AI-Based Predictive Irrigation:</a:t>
            </a:r>
            <a:r>
              <a:rPr lang="en-GB" sz="2500">
                <a:latin typeface="Times New Roman"/>
                <a:ea typeface="Times New Roman"/>
                <a:cs typeface="Times New Roman"/>
                <a:sym typeface="Times New Roman"/>
              </a:rPr>
              <a:t> Integration of machine learning models to forecast irrigation needs based on weather, soil, and crop data for even higher accuracy.</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Solar-Powered Operation:</a:t>
            </a:r>
            <a:r>
              <a:rPr lang="en-GB" sz="2500">
                <a:latin typeface="Times New Roman"/>
                <a:ea typeface="Times New Roman"/>
                <a:cs typeface="Times New Roman"/>
                <a:sym typeface="Times New Roman"/>
              </a:rPr>
              <a:t> Incorporating renewable solar energy to make the system completely self-sustaining and suitable for remote areas.</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Mobile App Enhancement:</a:t>
            </a:r>
            <a:r>
              <a:rPr lang="en-GB" sz="2500">
                <a:latin typeface="Times New Roman"/>
                <a:ea typeface="Times New Roman"/>
                <a:cs typeface="Times New Roman"/>
                <a:sym typeface="Times New Roman"/>
              </a:rPr>
              <a:t> Developing a dedicated mobile application with analytics, alerts, and scheduling features for better user interaction.</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Multi-Sensor Expansion:</a:t>
            </a:r>
            <a:r>
              <a:rPr lang="en-GB" sz="2500">
                <a:latin typeface="Times New Roman"/>
                <a:ea typeface="Times New Roman"/>
                <a:cs typeface="Times New Roman"/>
                <a:sym typeface="Times New Roman"/>
              </a:rPr>
              <a:t> Adding sensors for temperature, humidity, pH, and nutrient levels to provide comprehensive soil health monitoring.</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Cloud Data Analytics:</a:t>
            </a:r>
            <a:r>
              <a:rPr lang="en-GB" sz="2500">
                <a:latin typeface="Times New Roman"/>
                <a:ea typeface="Times New Roman"/>
                <a:cs typeface="Times New Roman"/>
                <a:sym typeface="Times New Roman"/>
              </a:rPr>
              <a:t> Utilizing cloud platforms for long-term data storage and analysis to improve water usage efficiency and crop yield predictions.</a:t>
            </a:r>
            <a:endParaRPr/>
          </a:p>
          <a:p>
            <a:pPr indent="-228600" lvl="0" marL="228600" rtl="0" algn="just">
              <a:lnSpc>
                <a:spcPct val="90000"/>
              </a:lnSpc>
              <a:spcBef>
                <a:spcPts val="1000"/>
              </a:spcBef>
              <a:spcAft>
                <a:spcPts val="0"/>
              </a:spcAft>
              <a:buClr>
                <a:schemeClr val="dk1"/>
              </a:buClr>
              <a:buSzPts val="2500"/>
              <a:buChar char="•"/>
            </a:pPr>
            <a:r>
              <a:rPr b="1" lang="en-GB" sz="2500">
                <a:latin typeface="Times New Roman"/>
                <a:ea typeface="Times New Roman"/>
                <a:cs typeface="Times New Roman"/>
                <a:sym typeface="Times New Roman"/>
              </a:rPr>
              <a:t>Integration with Smart Farming Networks:</a:t>
            </a:r>
            <a:r>
              <a:rPr lang="en-GB" sz="2500">
                <a:latin typeface="Times New Roman"/>
                <a:ea typeface="Times New Roman"/>
                <a:cs typeface="Times New Roman"/>
                <a:sym typeface="Times New Roman"/>
              </a:rPr>
              <a:t> Connecting AquaMind with other IoT-based smart devices (like drones and weather stations) for a unified smart agriculture ecosystem.</a:t>
            </a:r>
            <a:endParaRPr sz="2500">
              <a:latin typeface="Times New Roman"/>
              <a:ea typeface="Times New Roman"/>
              <a:cs typeface="Times New Roman"/>
              <a:sym typeface="Times New Roman"/>
            </a:endParaRPr>
          </a:p>
        </p:txBody>
      </p:sp>
      <p:sp>
        <p:nvSpPr>
          <p:cNvPr id="378" name="Google Shape;37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5"/>
          <p:cNvSpPr txBox="1"/>
          <p:nvPr>
            <p:ph type="title"/>
          </p:nvPr>
        </p:nvSpPr>
        <p:spPr>
          <a:xfrm>
            <a:off x="838200" y="136525"/>
            <a:ext cx="10515600" cy="9924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GB">
                <a:latin typeface="Times New Roman"/>
                <a:ea typeface="Times New Roman"/>
                <a:cs typeface="Times New Roman"/>
                <a:sym typeface="Times New Roman"/>
              </a:rPr>
              <a:t>References</a:t>
            </a:r>
            <a:endParaRPr/>
          </a:p>
        </p:txBody>
      </p:sp>
      <p:sp>
        <p:nvSpPr>
          <p:cNvPr id="384" name="Google Shape;384;p15"/>
          <p:cNvSpPr txBox="1"/>
          <p:nvPr>
            <p:ph idx="1" type="body"/>
          </p:nvPr>
        </p:nvSpPr>
        <p:spPr>
          <a:xfrm>
            <a:off x="401216" y="1250302"/>
            <a:ext cx="10952584" cy="4926661"/>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GB">
                <a:latin typeface="Times New Roman"/>
                <a:ea typeface="Times New Roman"/>
                <a:cs typeface="Times New Roman"/>
                <a:sym typeface="Times New Roman"/>
              </a:rPr>
              <a:t>Key Research Citations:​</a:t>
            </a:r>
            <a:endParaRPr/>
          </a:p>
          <a:p>
            <a:pPr indent="-228600" lvl="0" marL="228600" rtl="0" algn="just">
              <a:lnSpc>
                <a:spcPct val="90000"/>
              </a:lnSpc>
              <a:spcBef>
                <a:spcPts val="1000"/>
              </a:spcBef>
              <a:spcAft>
                <a:spcPts val="0"/>
              </a:spcAft>
              <a:buClr>
                <a:schemeClr val="dk1"/>
              </a:buClr>
              <a:buSzPts val="2000"/>
              <a:buChar char="•"/>
            </a:pPr>
            <a:r>
              <a:rPr b="1" lang="en-GB" sz="2000">
                <a:latin typeface="Times New Roman"/>
                <a:ea typeface="Times New Roman"/>
                <a:cs typeface="Times New Roman"/>
                <a:sym typeface="Times New Roman"/>
              </a:rPr>
              <a:t>Patil, V. C., et al. (2018).</a:t>
            </a: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“IoT Based Smart Irrigation System Using Soil Moisture Sensor and Automation.” </a:t>
            </a:r>
            <a:r>
              <a:rPr lang="en-GB" sz="2000">
                <a:latin typeface="Times New Roman"/>
                <a:ea typeface="Times New Roman"/>
                <a:cs typeface="Times New Roman"/>
                <a:sym typeface="Times New Roman"/>
              </a:rPr>
              <a:t>International Journal of Scientific Research in Computer Science, Engineering and Information Technology (IJSRCSEIT), Vol. 3, Issue 6.</a:t>
            </a:r>
            <a:endParaRPr i="1"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Char char="•"/>
            </a:pPr>
            <a:r>
              <a:rPr b="1" lang="en-GB" sz="2000">
                <a:latin typeface="Times New Roman"/>
                <a:ea typeface="Times New Roman"/>
                <a:cs typeface="Times New Roman"/>
                <a:sym typeface="Times New Roman"/>
              </a:rPr>
              <a:t>Narale, D. D., et al. (2018).</a:t>
            </a: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“Automation in Irrigation System using IoT and Cloud Computing.” International Research Journal of Engineering and Technology (IRJET), Vol. 5, Issue 4.</a:t>
            </a:r>
            <a:br>
              <a:rPr lang="en-GB" sz="2000">
                <a:latin typeface="Times New Roman"/>
                <a:ea typeface="Times New Roman"/>
                <a:cs typeface="Times New Roman"/>
                <a:sym typeface="Times New Roman"/>
              </a:rPr>
            </a:br>
            <a:r>
              <a:rPr lang="en-GB" sz="2000">
                <a:latin typeface="Times New Roman"/>
                <a:ea typeface="Times New Roman"/>
                <a:cs typeface="Times New Roman"/>
                <a:sym typeface="Times New Roman"/>
              </a:rPr>
              <a:t>– Discusses automation through cloud-based data logging and control for water-efficient irrigation.</a:t>
            </a:r>
            <a:endParaRPr/>
          </a:p>
          <a:p>
            <a:pPr indent="-228600" lvl="0" marL="228600" rtl="0" algn="just">
              <a:lnSpc>
                <a:spcPct val="90000"/>
              </a:lnSpc>
              <a:spcBef>
                <a:spcPts val="1000"/>
              </a:spcBef>
              <a:spcAft>
                <a:spcPts val="0"/>
              </a:spcAft>
              <a:buClr>
                <a:schemeClr val="dk1"/>
              </a:buClr>
              <a:buSzPts val="2000"/>
              <a:buChar char="•"/>
            </a:pPr>
            <a:r>
              <a:rPr b="1" lang="en-GB" sz="2000">
                <a:latin typeface="Times New Roman"/>
                <a:ea typeface="Times New Roman"/>
                <a:cs typeface="Times New Roman"/>
                <a:sym typeface="Times New Roman"/>
              </a:rPr>
              <a:t>Raut, R., &amp; Kolekar, M. (2019).</a:t>
            </a: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“Adaptive Smart Irrigation System Using IoT and Machine Learning.” </a:t>
            </a:r>
            <a:endParaRPr/>
          </a:p>
          <a:p>
            <a:pPr indent="-228600" lvl="0" marL="228600" rtl="0" algn="just">
              <a:lnSpc>
                <a:spcPct val="90000"/>
              </a:lnSpc>
              <a:spcBef>
                <a:spcPts val="1000"/>
              </a:spcBef>
              <a:spcAft>
                <a:spcPts val="0"/>
              </a:spcAft>
              <a:buClr>
                <a:schemeClr val="dk1"/>
              </a:buClr>
              <a:buSzPts val="2000"/>
              <a:buChar char="•"/>
            </a:pPr>
            <a:r>
              <a:rPr b="1" lang="en-GB" sz="2000">
                <a:latin typeface="Times New Roman"/>
                <a:ea typeface="Times New Roman"/>
                <a:cs typeface="Times New Roman"/>
                <a:sym typeface="Times New Roman"/>
              </a:rPr>
              <a:t>Reddy, P. S., &amp; Kumar, P. (2020).</a:t>
            </a: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“Dual Mode IoT Enabled Smart Irrigation System.”</a:t>
            </a:r>
            <a:br>
              <a:rPr lang="en-GB" sz="2000">
                <a:latin typeface="Times New Roman"/>
                <a:ea typeface="Times New Roman"/>
                <a:cs typeface="Times New Roman"/>
                <a:sym typeface="Times New Roman"/>
              </a:rPr>
            </a:br>
            <a:r>
              <a:rPr i="1" lang="en-GB" sz="2000">
                <a:latin typeface="Times New Roman"/>
                <a:ea typeface="Times New Roman"/>
                <a:cs typeface="Times New Roman"/>
                <a:sym typeface="Times New Roman"/>
              </a:rPr>
              <a:t>International Journal of Innovative Technology and Exploring Engineering (IJITEE), Vol. 9, Issue 4.</a:t>
            </a:r>
            <a:endParaRPr/>
          </a:p>
          <a:p>
            <a:pPr indent="-228600" lvl="0" marL="228600" rtl="0" algn="just">
              <a:lnSpc>
                <a:spcPct val="90000"/>
              </a:lnSpc>
              <a:spcBef>
                <a:spcPts val="1000"/>
              </a:spcBef>
              <a:spcAft>
                <a:spcPts val="0"/>
              </a:spcAft>
              <a:buClr>
                <a:schemeClr val="dk1"/>
              </a:buClr>
              <a:buSzPts val="2000"/>
              <a:buChar char="•"/>
            </a:pPr>
            <a:r>
              <a:rPr b="1" lang="en-GB" sz="2000">
                <a:latin typeface="Times New Roman"/>
                <a:ea typeface="Times New Roman"/>
                <a:cs typeface="Times New Roman"/>
                <a:sym typeface="Times New Roman"/>
              </a:rPr>
              <a:t>Kumar, S., &amp; Rajasekaran, M. P. (2017).</a:t>
            </a: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“IoT based smart irrigation monitoring and controlling system.” </a:t>
            </a:r>
            <a:r>
              <a:rPr lang="en-GB" sz="2000">
                <a:latin typeface="Times New Roman"/>
                <a:ea typeface="Times New Roman"/>
                <a:cs typeface="Times New Roman"/>
                <a:sym typeface="Times New Roman"/>
              </a:rPr>
              <a:t>IEEE International Conference on Innovations in Electrical, Electronics, Instrumentation and Media Technology (ICEEIMT).</a:t>
            </a:r>
            <a:endParaRPr sz="2000">
              <a:latin typeface="Times New Roman"/>
              <a:ea typeface="Times New Roman"/>
              <a:cs typeface="Times New Roman"/>
              <a:sym typeface="Times New Roman"/>
            </a:endParaRPr>
          </a:p>
          <a:p>
            <a:pPr indent="-107950" lvl="0" marL="228600" rtl="0" algn="just">
              <a:lnSpc>
                <a:spcPct val="90000"/>
              </a:lnSpc>
              <a:spcBef>
                <a:spcPts val="1000"/>
              </a:spcBef>
              <a:spcAft>
                <a:spcPts val="0"/>
              </a:spcAft>
              <a:buClr>
                <a:schemeClr val="dk1"/>
              </a:buClr>
              <a:buSzPts val="1900"/>
              <a:buNone/>
            </a:pPr>
            <a:r>
              <a:t/>
            </a:r>
            <a:endParaRPr sz="1900">
              <a:latin typeface="Times New Roman"/>
              <a:ea typeface="Times New Roman"/>
              <a:cs typeface="Times New Roman"/>
              <a:sym typeface="Times New Roman"/>
            </a:endParaRPr>
          </a:p>
        </p:txBody>
      </p:sp>
      <p:sp>
        <p:nvSpPr>
          <p:cNvPr id="385" name="Google Shape;38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ntents Slide Master">
  <a:themeElements>
    <a:clrScheme name="ALLPPT-COLOR-A33">
      <a:dk1>
        <a:srgbClr val="000000"/>
      </a:dk1>
      <a:lt1>
        <a:srgbClr val="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2019-01-09T10:33:58Z</dcterms:created>
  <dc:creator>Branding</dc:creator>
</cp:coreProperties>
</file>